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handoutMasterIdLst>
    <p:handoutMasterId r:id="rId22"/>
  </p:handoutMasterIdLst>
  <p:sldIdLst>
    <p:sldId id="265" r:id="rId2"/>
    <p:sldId id="276" r:id="rId3"/>
    <p:sldId id="283" r:id="rId4"/>
    <p:sldId id="280" r:id="rId5"/>
    <p:sldId id="281" r:id="rId6"/>
    <p:sldId id="284" r:id="rId7"/>
    <p:sldId id="285" r:id="rId8"/>
    <p:sldId id="291" r:id="rId9"/>
    <p:sldId id="286" r:id="rId10"/>
    <p:sldId id="288" r:id="rId11"/>
    <p:sldId id="295" r:id="rId12"/>
    <p:sldId id="305" r:id="rId13"/>
    <p:sldId id="297" r:id="rId14"/>
    <p:sldId id="296" r:id="rId15"/>
    <p:sldId id="298" r:id="rId16"/>
    <p:sldId id="304" r:id="rId17"/>
    <p:sldId id="312" r:id="rId18"/>
    <p:sldId id="299" r:id="rId19"/>
    <p:sldId id="311" r:id="rId20"/>
  </p:sldIdLst>
  <p:sldSz cx="10620375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34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FF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1014" y="60"/>
      </p:cViewPr>
      <p:guideLst>
        <p:guide orient="horz" pos="2137"/>
        <p:guide pos="33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8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customXml" Target="../customXml/item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0F8895-199C-4854-87E3-0FD0582E19E3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A98967D-792C-4EF6-8636-9E6F97A18684}">
      <dgm:prSet phldrT="[Texto]"/>
      <dgm:spPr/>
      <dgm:t>
        <a:bodyPr/>
        <a:lstStyle/>
        <a:p>
          <a:r>
            <a:rPr lang="pt-BR" dirty="0" smtClean="0"/>
            <a:t>Controle de velocidade</a:t>
          </a:r>
          <a:endParaRPr lang="pt-BR" dirty="0"/>
        </a:p>
      </dgm:t>
    </dgm:pt>
    <dgm:pt modelId="{895565D7-E11E-4B22-9DE9-4DF9FFB0B0FB}" type="parTrans" cxnId="{0BA7A115-AD87-4EB6-AA52-AE36526884E6}">
      <dgm:prSet/>
      <dgm:spPr/>
      <dgm:t>
        <a:bodyPr/>
        <a:lstStyle/>
        <a:p>
          <a:endParaRPr lang="pt-BR"/>
        </a:p>
      </dgm:t>
    </dgm:pt>
    <dgm:pt modelId="{1D246FF7-813B-46CB-8A9F-EEC965E34FD3}" type="sibTrans" cxnId="{0BA7A115-AD87-4EB6-AA52-AE36526884E6}">
      <dgm:prSet/>
      <dgm:spPr/>
      <dgm:t>
        <a:bodyPr/>
        <a:lstStyle/>
        <a:p>
          <a:endParaRPr lang="pt-BR"/>
        </a:p>
      </dgm:t>
    </dgm:pt>
    <dgm:pt modelId="{AD33EA88-C7AF-4643-AC7C-DE8825A745B2}">
      <dgm:prSet phldrT="[Texto]"/>
      <dgm:spPr/>
      <dgm:t>
        <a:bodyPr/>
        <a:lstStyle/>
        <a:p>
          <a:r>
            <a:rPr lang="pt-BR" dirty="0" smtClean="0"/>
            <a:t>Prevenção em  acidentes e avarias</a:t>
          </a:r>
          <a:endParaRPr lang="pt-BR" dirty="0"/>
        </a:p>
      </dgm:t>
    </dgm:pt>
    <dgm:pt modelId="{2395D14E-CF8E-4544-8449-5C5E34488979}" type="parTrans" cxnId="{EE84AC51-E0DC-459A-B7BC-B10BD154151E}">
      <dgm:prSet/>
      <dgm:spPr/>
      <dgm:t>
        <a:bodyPr/>
        <a:lstStyle/>
        <a:p>
          <a:endParaRPr lang="pt-BR"/>
        </a:p>
      </dgm:t>
    </dgm:pt>
    <dgm:pt modelId="{9417FE2F-DED7-47EB-AC55-1978BA05660F}" type="sibTrans" cxnId="{EE84AC51-E0DC-459A-B7BC-B10BD154151E}">
      <dgm:prSet/>
      <dgm:spPr/>
      <dgm:t>
        <a:bodyPr/>
        <a:lstStyle/>
        <a:p>
          <a:endParaRPr lang="pt-BR"/>
        </a:p>
      </dgm:t>
    </dgm:pt>
    <dgm:pt modelId="{EF439E4C-525F-4457-BFF5-B78D362A089F}">
      <dgm:prSet phldrT="[Texto]"/>
      <dgm:spPr/>
      <dgm:t>
        <a:bodyPr/>
        <a:lstStyle/>
        <a:p>
          <a:r>
            <a:rPr lang="pt-BR" dirty="0" smtClean="0"/>
            <a:t>Cultura de GR</a:t>
          </a:r>
          <a:endParaRPr lang="pt-BR" dirty="0"/>
        </a:p>
      </dgm:t>
    </dgm:pt>
    <dgm:pt modelId="{B2B34FC6-0F0E-4811-A01B-D8C9962DF88E}" type="parTrans" cxnId="{B25249B2-3829-481E-A7C9-E6E794188454}">
      <dgm:prSet/>
      <dgm:spPr/>
      <dgm:t>
        <a:bodyPr/>
        <a:lstStyle/>
        <a:p>
          <a:endParaRPr lang="pt-BR"/>
        </a:p>
      </dgm:t>
    </dgm:pt>
    <dgm:pt modelId="{2B4CC93B-DDA5-4292-8563-A1F41EF347E1}" type="sibTrans" cxnId="{B25249B2-3829-481E-A7C9-E6E794188454}">
      <dgm:prSet/>
      <dgm:spPr/>
      <dgm:t>
        <a:bodyPr/>
        <a:lstStyle/>
        <a:p>
          <a:endParaRPr lang="pt-BR"/>
        </a:p>
      </dgm:t>
    </dgm:pt>
    <dgm:pt modelId="{8C3CCC77-3DFE-440D-AF9A-09D3B6AEBFB4}" type="pres">
      <dgm:prSet presAssocID="{550F8895-199C-4854-87E3-0FD0582E19E3}" presName="Name0" presStyleCnt="0">
        <dgm:presLayoutVars>
          <dgm:dir/>
          <dgm:resizeHandles val="exact"/>
        </dgm:presLayoutVars>
      </dgm:prSet>
      <dgm:spPr/>
    </dgm:pt>
    <dgm:pt modelId="{8242C9DE-E67C-436D-9039-1C4D5F224290}" type="pres">
      <dgm:prSet presAssocID="{2A98967D-792C-4EF6-8636-9E6F97A18684}" presName="node" presStyleLbl="node1" presStyleIdx="0" presStyleCnt="3">
        <dgm:presLayoutVars>
          <dgm:bulletEnabled val="1"/>
        </dgm:presLayoutVars>
      </dgm:prSet>
      <dgm:spPr/>
    </dgm:pt>
    <dgm:pt modelId="{BFE23C99-F43E-4CA6-9089-4C133034453D}" type="pres">
      <dgm:prSet presAssocID="{1D246FF7-813B-46CB-8A9F-EEC965E34FD3}" presName="sibTrans" presStyleLbl="sibTrans2D1" presStyleIdx="0" presStyleCnt="3"/>
      <dgm:spPr/>
    </dgm:pt>
    <dgm:pt modelId="{5FCE82CE-97C3-4F85-AA53-D272BF861F9F}" type="pres">
      <dgm:prSet presAssocID="{1D246FF7-813B-46CB-8A9F-EEC965E34FD3}" presName="connectorText" presStyleLbl="sibTrans2D1" presStyleIdx="0" presStyleCnt="3"/>
      <dgm:spPr/>
    </dgm:pt>
    <dgm:pt modelId="{5B377DEF-0F4D-46F8-AC83-90E92122C938}" type="pres">
      <dgm:prSet presAssocID="{AD33EA88-C7AF-4643-AC7C-DE8825A745B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246ED9E-71AA-402C-811B-12C6170AF875}" type="pres">
      <dgm:prSet presAssocID="{9417FE2F-DED7-47EB-AC55-1978BA05660F}" presName="sibTrans" presStyleLbl="sibTrans2D1" presStyleIdx="1" presStyleCnt="3"/>
      <dgm:spPr/>
    </dgm:pt>
    <dgm:pt modelId="{0CC4CC49-C4B1-4BC1-A0E7-289514CD4D01}" type="pres">
      <dgm:prSet presAssocID="{9417FE2F-DED7-47EB-AC55-1978BA05660F}" presName="connectorText" presStyleLbl="sibTrans2D1" presStyleIdx="1" presStyleCnt="3"/>
      <dgm:spPr/>
    </dgm:pt>
    <dgm:pt modelId="{FDE468A7-A97B-4894-843F-BB08EA6EB730}" type="pres">
      <dgm:prSet presAssocID="{EF439E4C-525F-4457-BFF5-B78D362A089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4833B57-A78F-4A26-ACC4-8FA3A932ED7C}" type="pres">
      <dgm:prSet presAssocID="{2B4CC93B-DDA5-4292-8563-A1F41EF347E1}" presName="sibTrans" presStyleLbl="sibTrans2D1" presStyleIdx="2" presStyleCnt="3"/>
      <dgm:spPr/>
    </dgm:pt>
    <dgm:pt modelId="{3B7E5A6A-4999-4C85-8718-7639D3D9A4B5}" type="pres">
      <dgm:prSet presAssocID="{2B4CC93B-DDA5-4292-8563-A1F41EF347E1}" presName="connectorText" presStyleLbl="sibTrans2D1" presStyleIdx="2" presStyleCnt="3"/>
      <dgm:spPr/>
    </dgm:pt>
  </dgm:ptLst>
  <dgm:cxnLst>
    <dgm:cxn modelId="{04D696FB-F396-4B6C-82DD-82DBD0E8D03B}" type="presOf" srcId="{9417FE2F-DED7-47EB-AC55-1978BA05660F}" destId="{0CC4CC49-C4B1-4BC1-A0E7-289514CD4D01}" srcOrd="1" destOrd="0" presId="urn:microsoft.com/office/officeart/2005/8/layout/cycle7"/>
    <dgm:cxn modelId="{1453ED5F-B7BB-49DC-BDE1-42A9C52A3124}" type="presOf" srcId="{2A98967D-792C-4EF6-8636-9E6F97A18684}" destId="{8242C9DE-E67C-436D-9039-1C4D5F224290}" srcOrd="0" destOrd="0" presId="urn:microsoft.com/office/officeart/2005/8/layout/cycle7"/>
    <dgm:cxn modelId="{8E698BBB-DC19-4030-B8CA-EC501C8A2271}" type="presOf" srcId="{2B4CC93B-DDA5-4292-8563-A1F41EF347E1}" destId="{14833B57-A78F-4A26-ACC4-8FA3A932ED7C}" srcOrd="0" destOrd="0" presId="urn:microsoft.com/office/officeart/2005/8/layout/cycle7"/>
    <dgm:cxn modelId="{B25249B2-3829-481E-A7C9-E6E794188454}" srcId="{550F8895-199C-4854-87E3-0FD0582E19E3}" destId="{EF439E4C-525F-4457-BFF5-B78D362A089F}" srcOrd="2" destOrd="0" parTransId="{B2B34FC6-0F0E-4811-A01B-D8C9962DF88E}" sibTransId="{2B4CC93B-DDA5-4292-8563-A1F41EF347E1}"/>
    <dgm:cxn modelId="{90C3DD67-641C-470C-8CE2-581591A30FA0}" type="presOf" srcId="{1D246FF7-813B-46CB-8A9F-EEC965E34FD3}" destId="{BFE23C99-F43E-4CA6-9089-4C133034453D}" srcOrd="0" destOrd="0" presId="urn:microsoft.com/office/officeart/2005/8/layout/cycle7"/>
    <dgm:cxn modelId="{0BA7A115-AD87-4EB6-AA52-AE36526884E6}" srcId="{550F8895-199C-4854-87E3-0FD0582E19E3}" destId="{2A98967D-792C-4EF6-8636-9E6F97A18684}" srcOrd="0" destOrd="0" parTransId="{895565D7-E11E-4B22-9DE9-4DF9FFB0B0FB}" sibTransId="{1D246FF7-813B-46CB-8A9F-EEC965E34FD3}"/>
    <dgm:cxn modelId="{FA236413-D173-4907-9FB9-A2950F8ACDEC}" type="presOf" srcId="{550F8895-199C-4854-87E3-0FD0582E19E3}" destId="{8C3CCC77-3DFE-440D-AF9A-09D3B6AEBFB4}" srcOrd="0" destOrd="0" presId="urn:microsoft.com/office/officeart/2005/8/layout/cycle7"/>
    <dgm:cxn modelId="{17EFEB6E-B87B-4C6F-BFFE-91B4F1200D3A}" type="presOf" srcId="{EF439E4C-525F-4457-BFF5-B78D362A089F}" destId="{FDE468A7-A97B-4894-843F-BB08EA6EB730}" srcOrd="0" destOrd="0" presId="urn:microsoft.com/office/officeart/2005/8/layout/cycle7"/>
    <dgm:cxn modelId="{6F6CB9FA-0519-493E-BFF6-80DB1FF5B640}" type="presOf" srcId="{AD33EA88-C7AF-4643-AC7C-DE8825A745B2}" destId="{5B377DEF-0F4D-46F8-AC83-90E92122C938}" srcOrd="0" destOrd="0" presId="urn:microsoft.com/office/officeart/2005/8/layout/cycle7"/>
    <dgm:cxn modelId="{7B1FAB1E-423C-42C4-898E-6159D96D3FA7}" type="presOf" srcId="{9417FE2F-DED7-47EB-AC55-1978BA05660F}" destId="{A246ED9E-71AA-402C-811B-12C6170AF875}" srcOrd="0" destOrd="0" presId="urn:microsoft.com/office/officeart/2005/8/layout/cycle7"/>
    <dgm:cxn modelId="{EE84AC51-E0DC-459A-B7BC-B10BD154151E}" srcId="{550F8895-199C-4854-87E3-0FD0582E19E3}" destId="{AD33EA88-C7AF-4643-AC7C-DE8825A745B2}" srcOrd="1" destOrd="0" parTransId="{2395D14E-CF8E-4544-8449-5C5E34488979}" sibTransId="{9417FE2F-DED7-47EB-AC55-1978BA05660F}"/>
    <dgm:cxn modelId="{E6F1E177-E3CC-462E-AC49-F1150F9F9E9F}" type="presOf" srcId="{2B4CC93B-DDA5-4292-8563-A1F41EF347E1}" destId="{3B7E5A6A-4999-4C85-8718-7639D3D9A4B5}" srcOrd="1" destOrd="0" presId="urn:microsoft.com/office/officeart/2005/8/layout/cycle7"/>
    <dgm:cxn modelId="{5D0FA395-CC86-4268-B8F4-F7E676E3D3DA}" type="presOf" srcId="{1D246FF7-813B-46CB-8A9F-EEC965E34FD3}" destId="{5FCE82CE-97C3-4F85-AA53-D272BF861F9F}" srcOrd="1" destOrd="0" presId="urn:microsoft.com/office/officeart/2005/8/layout/cycle7"/>
    <dgm:cxn modelId="{DB82F513-ECDA-4426-A348-818A2C5FDA37}" type="presParOf" srcId="{8C3CCC77-3DFE-440D-AF9A-09D3B6AEBFB4}" destId="{8242C9DE-E67C-436D-9039-1C4D5F224290}" srcOrd="0" destOrd="0" presId="urn:microsoft.com/office/officeart/2005/8/layout/cycle7"/>
    <dgm:cxn modelId="{5B38F254-88FD-44E7-937E-0FD4179FFB10}" type="presParOf" srcId="{8C3CCC77-3DFE-440D-AF9A-09D3B6AEBFB4}" destId="{BFE23C99-F43E-4CA6-9089-4C133034453D}" srcOrd="1" destOrd="0" presId="urn:microsoft.com/office/officeart/2005/8/layout/cycle7"/>
    <dgm:cxn modelId="{A7A15DF9-B349-4C56-8E22-0500A1CDA79C}" type="presParOf" srcId="{BFE23C99-F43E-4CA6-9089-4C133034453D}" destId="{5FCE82CE-97C3-4F85-AA53-D272BF861F9F}" srcOrd="0" destOrd="0" presId="urn:microsoft.com/office/officeart/2005/8/layout/cycle7"/>
    <dgm:cxn modelId="{3E069DD3-A192-4D7F-90AF-9065C185D99C}" type="presParOf" srcId="{8C3CCC77-3DFE-440D-AF9A-09D3B6AEBFB4}" destId="{5B377DEF-0F4D-46F8-AC83-90E92122C938}" srcOrd="2" destOrd="0" presId="urn:microsoft.com/office/officeart/2005/8/layout/cycle7"/>
    <dgm:cxn modelId="{FE62F566-8440-4EA7-AF2C-B16D875AC316}" type="presParOf" srcId="{8C3CCC77-3DFE-440D-AF9A-09D3B6AEBFB4}" destId="{A246ED9E-71AA-402C-811B-12C6170AF875}" srcOrd="3" destOrd="0" presId="urn:microsoft.com/office/officeart/2005/8/layout/cycle7"/>
    <dgm:cxn modelId="{50E39F70-77AD-4A43-A191-F8AEAE52B562}" type="presParOf" srcId="{A246ED9E-71AA-402C-811B-12C6170AF875}" destId="{0CC4CC49-C4B1-4BC1-A0E7-289514CD4D01}" srcOrd="0" destOrd="0" presId="urn:microsoft.com/office/officeart/2005/8/layout/cycle7"/>
    <dgm:cxn modelId="{C97288BE-2B75-464C-A8B2-6DC5E624B959}" type="presParOf" srcId="{8C3CCC77-3DFE-440D-AF9A-09D3B6AEBFB4}" destId="{FDE468A7-A97B-4894-843F-BB08EA6EB730}" srcOrd="4" destOrd="0" presId="urn:microsoft.com/office/officeart/2005/8/layout/cycle7"/>
    <dgm:cxn modelId="{1664A573-9333-4B3D-8EBF-7F8662616450}" type="presParOf" srcId="{8C3CCC77-3DFE-440D-AF9A-09D3B6AEBFB4}" destId="{14833B57-A78F-4A26-ACC4-8FA3A932ED7C}" srcOrd="5" destOrd="0" presId="urn:microsoft.com/office/officeart/2005/8/layout/cycle7"/>
    <dgm:cxn modelId="{4C6C45EA-BF1F-449C-80C6-557D32140A05}" type="presParOf" srcId="{14833B57-A78F-4A26-ACC4-8FA3A932ED7C}" destId="{3B7E5A6A-4999-4C85-8718-7639D3D9A4B5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2C9DE-E67C-436D-9039-1C4D5F224290}">
      <dsp:nvSpPr>
        <dsp:cNvPr id="0" name=""/>
        <dsp:cNvSpPr/>
      </dsp:nvSpPr>
      <dsp:spPr>
        <a:xfrm>
          <a:off x="2318021" y="1369"/>
          <a:ext cx="2444207" cy="12221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 smtClean="0"/>
            <a:t>Controle de velocidade</a:t>
          </a:r>
          <a:endParaRPr lang="pt-BR" sz="2300" kern="1200" dirty="0"/>
        </a:p>
      </dsp:txBody>
      <dsp:txXfrm>
        <a:off x="2353815" y="37163"/>
        <a:ext cx="2372619" cy="1150515"/>
      </dsp:txXfrm>
    </dsp:sp>
    <dsp:sp modelId="{BFE23C99-F43E-4CA6-9089-4C133034453D}">
      <dsp:nvSpPr>
        <dsp:cNvPr id="0" name=""/>
        <dsp:cNvSpPr/>
      </dsp:nvSpPr>
      <dsp:spPr>
        <a:xfrm rot="3600000">
          <a:off x="3912400" y="2146215"/>
          <a:ext cx="1273475" cy="427736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>
        <a:off x="4040721" y="2231762"/>
        <a:ext cx="1016833" cy="256642"/>
      </dsp:txXfrm>
    </dsp:sp>
    <dsp:sp modelId="{5B377DEF-0F4D-46F8-AC83-90E92122C938}">
      <dsp:nvSpPr>
        <dsp:cNvPr id="0" name=""/>
        <dsp:cNvSpPr/>
      </dsp:nvSpPr>
      <dsp:spPr>
        <a:xfrm>
          <a:off x="4336047" y="3496693"/>
          <a:ext cx="2444207" cy="12221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 smtClean="0"/>
            <a:t>Prevenção em  acidentes e avarias</a:t>
          </a:r>
          <a:endParaRPr lang="pt-BR" sz="2300" kern="1200" dirty="0"/>
        </a:p>
      </dsp:txBody>
      <dsp:txXfrm>
        <a:off x="4371841" y="3532487"/>
        <a:ext cx="2372619" cy="1150515"/>
      </dsp:txXfrm>
    </dsp:sp>
    <dsp:sp modelId="{A246ED9E-71AA-402C-811B-12C6170AF875}">
      <dsp:nvSpPr>
        <dsp:cNvPr id="0" name=""/>
        <dsp:cNvSpPr/>
      </dsp:nvSpPr>
      <dsp:spPr>
        <a:xfrm rot="10800000">
          <a:off x="2903387" y="3893877"/>
          <a:ext cx="1273475" cy="427736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 rot="10800000">
        <a:off x="3031708" y="3979424"/>
        <a:ext cx="1016833" cy="256642"/>
      </dsp:txXfrm>
    </dsp:sp>
    <dsp:sp modelId="{FDE468A7-A97B-4894-843F-BB08EA6EB730}">
      <dsp:nvSpPr>
        <dsp:cNvPr id="0" name=""/>
        <dsp:cNvSpPr/>
      </dsp:nvSpPr>
      <dsp:spPr>
        <a:xfrm>
          <a:off x="299995" y="3496693"/>
          <a:ext cx="2444207" cy="12221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 smtClean="0"/>
            <a:t>Cultura de GR</a:t>
          </a:r>
          <a:endParaRPr lang="pt-BR" sz="2300" kern="1200" dirty="0"/>
        </a:p>
      </dsp:txBody>
      <dsp:txXfrm>
        <a:off x="335789" y="3532487"/>
        <a:ext cx="2372619" cy="1150515"/>
      </dsp:txXfrm>
    </dsp:sp>
    <dsp:sp modelId="{14833B57-A78F-4A26-ACC4-8FA3A932ED7C}">
      <dsp:nvSpPr>
        <dsp:cNvPr id="0" name=""/>
        <dsp:cNvSpPr/>
      </dsp:nvSpPr>
      <dsp:spPr>
        <a:xfrm rot="18000000">
          <a:off x="1894373" y="2146215"/>
          <a:ext cx="1273475" cy="427736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800" kern="1200"/>
        </a:p>
      </dsp:txBody>
      <dsp:txXfrm>
        <a:off x="2022694" y="2231762"/>
        <a:ext cx="1016833" cy="256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17D85-27BE-48A1-AB8B-C68D48A177BA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C2F49-2398-49B0-AE9B-D98572B2DC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5878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83135-FD43-49BB-B6D1-C6E2449D8FDB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039813" y="1143000"/>
            <a:ext cx="4778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6EFFA-64E4-48FF-A429-42633E0FD3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30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6EFFA-64E4-48FF-A429-42633E0FD3A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646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6EFFA-64E4-48FF-A429-42633E0FD3A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8240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6EFFA-64E4-48FF-A429-42633E0FD3A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813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6EFFA-64E4-48FF-A429-42633E0FD3A2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850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6EFFA-64E4-48FF-A429-42633E0FD3A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090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6EFFA-64E4-48FF-A429-42633E0FD3A2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538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6528" y="1122363"/>
            <a:ext cx="902731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7547" y="3602038"/>
            <a:ext cx="796528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680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977" y="5826398"/>
            <a:ext cx="981397" cy="100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70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620" y="1709740"/>
            <a:ext cx="916007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620" y="4589465"/>
            <a:ext cx="916007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7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0151" y="1825625"/>
            <a:ext cx="4513659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565" y="1825625"/>
            <a:ext cx="4513659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83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34" y="365127"/>
            <a:ext cx="9160073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35" y="1681163"/>
            <a:ext cx="44929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35" y="2505075"/>
            <a:ext cx="4492916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565" y="1681163"/>
            <a:ext cx="451504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565" y="2505075"/>
            <a:ext cx="4515043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70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798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762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34" y="457200"/>
            <a:ext cx="342534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5043" y="987427"/>
            <a:ext cx="537656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34" y="2057400"/>
            <a:ext cx="342534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241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34" y="457200"/>
            <a:ext cx="342534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15043" y="987427"/>
            <a:ext cx="537656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34" y="2057400"/>
            <a:ext cx="342534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39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253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00207" y="365125"/>
            <a:ext cx="2290018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152" y="365125"/>
            <a:ext cx="6737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40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0151" y="365127"/>
            <a:ext cx="91600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151" y="1825625"/>
            <a:ext cx="91600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0151" y="6356352"/>
            <a:ext cx="23895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AB4D5-5A9E-460C-A9EC-0C1ACCF25D6F}" type="datetimeFigureOut">
              <a:rPr lang="pt-BR" smtClean="0"/>
              <a:t>10/02/2022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999" y="6356352"/>
            <a:ext cx="35843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00640" y="6356352"/>
            <a:ext cx="23895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A85E6-FCFA-4CC3-89C4-E39AB16E3A71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Espaço Reservado para Conteúdo 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0620375" cy="682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0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microsoft.com/office/2007/relationships/hdphoto" Target="../media/hdphoto2.wdp"/><Relationship Id="rId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microsoft.com/office/2007/relationships/hdphoto" Target="../media/hdphoto2.wdp"/><Relationship Id="rId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12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9.png"/><Relationship Id="rId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12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9.png"/><Relationship Id="rId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microsoft.com/office/2007/relationships/hdphoto" Target="../media/hdphoto2.wdp"/><Relationship Id="rId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8.png"/><Relationship Id="rId7" Type="http://schemas.openxmlformats.org/officeDocument/2006/relationships/diagramData" Target="../diagrams/data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diagramDrawing" Target="../diagrams/drawing1.xml"/><Relationship Id="rId5" Type="http://schemas.openxmlformats.org/officeDocument/2006/relationships/image" Target="../media/image9.png"/><Relationship Id="rId10" Type="http://schemas.openxmlformats.org/officeDocument/2006/relationships/diagramColors" Target="../diagrams/colors1.xml"/><Relationship Id="rId4" Type="http://schemas.microsoft.com/office/2007/relationships/hdphoto" Target="../media/hdphoto1.wdp"/><Relationship Id="rId9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mailto:luiz.meurer@apisul.com.br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hyperlink" Target="http://www.apisul.com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xmlns="" id="{8F4DF461-1816-4B60-A29E-A33F722A0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8" y="1"/>
            <a:ext cx="10612078" cy="288748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3780E223-5F99-4EE4-AAAD-4735A042A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" y="4117664"/>
            <a:ext cx="10612078" cy="2740335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198D4048-431B-43A8-A120-0E58CD46535C}"/>
              </a:ext>
            </a:extLst>
          </p:cNvPr>
          <p:cNvSpPr/>
          <p:nvPr/>
        </p:nvSpPr>
        <p:spPr>
          <a:xfrm>
            <a:off x="13058" y="2887487"/>
            <a:ext cx="10594258" cy="1230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68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BB79537C-3DED-4116-8F7E-E9BA1A01DC66}"/>
              </a:ext>
            </a:extLst>
          </p:cNvPr>
          <p:cNvSpPr txBox="1"/>
          <p:nvPr/>
        </p:nvSpPr>
        <p:spPr>
          <a:xfrm>
            <a:off x="33535" y="3289289"/>
            <a:ext cx="7466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tx2"/>
                </a:solidFill>
              </a:rPr>
              <a:t> Instruções Operação SVD </a:t>
            </a:r>
            <a:r>
              <a:rPr lang="pt-BR" sz="3200" b="1">
                <a:solidFill>
                  <a:schemeClr val="tx2"/>
                </a:solidFill>
              </a:rPr>
              <a:t>- Embarcado</a:t>
            </a:r>
            <a:endParaRPr lang="pt-BR" sz="3200" b="1" dirty="0">
              <a:solidFill>
                <a:schemeClr val="tx2"/>
              </a:solidFill>
            </a:endParaRPr>
          </a:p>
        </p:txBody>
      </p:sp>
      <p:pic>
        <p:nvPicPr>
          <p:cNvPr id="14" name="Picture 6" descr="Resultado de imagem para LOGO APISUL PNG">
            <a:extLst>
              <a:ext uri="{FF2B5EF4-FFF2-40B4-BE49-F238E27FC236}">
                <a16:creationId xmlns:a16="http://schemas.microsoft.com/office/drawing/2014/main" xmlns="" id="{A6B63A1A-9907-480D-8CD6-A0BE37B61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214" y="3166046"/>
            <a:ext cx="757916" cy="83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8C8429B8-CFE1-4367-8FAE-D29ECE77E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69" y="1724803"/>
            <a:ext cx="1874149" cy="734042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xmlns="" id="{F6447488-792D-4276-9EAB-1BB8BF42A92D}"/>
              </a:ext>
            </a:extLst>
          </p:cNvPr>
          <p:cNvCxnSpPr/>
          <p:nvPr/>
        </p:nvCxnSpPr>
        <p:spPr>
          <a:xfrm>
            <a:off x="8253877" y="2954994"/>
            <a:ext cx="0" cy="111975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1B68BA94-E872-42A9-8F02-2CAC1F9B1C79}"/>
              </a:ext>
            </a:extLst>
          </p:cNvPr>
          <p:cNvSpPr/>
          <p:nvPr/>
        </p:nvSpPr>
        <p:spPr>
          <a:xfrm>
            <a:off x="8372072" y="3254777"/>
            <a:ext cx="2070439" cy="574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136" b="1" dirty="0">
                <a:solidFill>
                  <a:schemeClr val="tx2"/>
                </a:solidFill>
              </a:rPr>
              <a:t>GER. RISCO</a:t>
            </a:r>
            <a:endParaRPr lang="pt-BR" sz="1568" dirty="0"/>
          </a:p>
        </p:txBody>
      </p:sp>
    </p:spTree>
    <p:extLst>
      <p:ext uri="{BB962C8B-B14F-4D97-AF65-F5344CB8AC3E}">
        <p14:creationId xmlns:p14="http://schemas.microsoft.com/office/powerpoint/2010/main" val="121731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0005" y="2702297"/>
            <a:ext cx="8937938" cy="84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48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Treinamento de Motoristas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pic>
        <p:nvPicPr>
          <p:cNvPr id="5" name="Picture 13" descr="5">
            <a:extLst>
              <a:ext uri="{FF2B5EF4-FFF2-40B4-BE49-F238E27FC236}">
                <a16:creationId xmlns:a16="http://schemas.microsoft.com/office/drawing/2014/main" xmlns="" id="{0E27982B-C1D4-429A-8EA1-3498B1A04D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3" descr="5">
            <a:extLst>
              <a:ext uri="{FF2B5EF4-FFF2-40B4-BE49-F238E27FC236}">
                <a16:creationId xmlns:a16="http://schemas.microsoft.com/office/drawing/2014/main" xmlns="" id="{F393972E-9B28-4DB3-8205-0B6B9572D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98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Conceito de GR</a:t>
            </a:r>
          </a:p>
        </p:txBody>
      </p:sp>
      <p:sp>
        <p:nvSpPr>
          <p:cNvPr id="2" name="Retângulo 1"/>
          <p:cNvSpPr/>
          <p:nvPr/>
        </p:nvSpPr>
        <p:spPr>
          <a:xfrm>
            <a:off x="850006" y="1283372"/>
            <a:ext cx="89379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É a adoção de um conjunto de técnicas e medidas preventivas que visam identificar, avaliar, evitar ou minimizar os efeitos de perdas ou danos que possam ocorrer no transporte de mercadorias, desde a origem até o destino da carga, garantindo que o produto esteja no local desejado, dentro do prazo previsto e de acordo com sua conformidade.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847858" y="3743347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Principais Objetivos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847858" y="4784286"/>
            <a:ext cx="89379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Coibir e/ou minimizar o índice de sinistros;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Garantir a qualidade dos serviços prestados;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Cumprimento dos prazos de entrega contratados;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Garantir que o PGR do cliente seja respeitado;</a:t>
            </a:r>
          </a:p>
        </p:txBody>
      </p:sp>
      <p:pic>
        <p:nvPicPr>
          <p:cNvPr id="7" name="Picture 13" descr="5">
            <a:extLst>
              <a:ext uri="{FF2B5EF4-FFF2-40B4-BE49-F238E27FC236}">
                <a16:creationId xmlns:a16="http://schemas.microsoft.com/office/drawing/2014/main" xmlns="" id="{37F197EC-5290-4867-914F-4A01A24D71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3" descr="5">
            <a:extLst>
              <a:ext uri="{FF2B5EF4-FFF2-40B4-BE49-F238E27FC236}">
                <a16:creationId xmlns:a16="http://schemas.microsoft.com/office/drawing/2014/main" xmlns="" id="{2F185221-6B68-4B77-8480-667A5905E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80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34FAC074-9CD0-4EBA-AB52-D0EE9BE76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99" y="1549396"/>
            <a:ext cx="9073678" cy="4494701"/>
          </a:xfrm>
          <a:prstGeom prst="rect">
            <a:avLst/>
          </a:prstGeom>
        </p:spPr>
      </p:pic>
      <p:sp>
        <p:nvSpPr>
          <p:cNvPr id="19" name="Retângulo 18"/>
          <p:cNvSpPr/>
          <p:nvPr/>
        </p:nvSpPr>
        <p:spPr>
          <a:xfrm>
            <a:off x="850006" y="242433"/>
            <a:ext cx="8937938" cy="595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Equipamento, </a:t>
            </a:r>
            <a:r>
              <a:rPr lang="pt-BR" sz="3200" dirty="0">
                <a:solidFill>
                  <a:srgbClr val="1F49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Sensores</a:t>
            </a: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e </a:t>
            </a:r>
            <a:r>
              <a:rPr lang="pt-BR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Atuadores</a:t>
            </a: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 do Veículo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pic>
        <p:nvPicPr>
          <p:cNvPr id="26" name="Picture 13" descr="5">
            <a:extLst>
              <a:ext uri="{FF2B5EF4-FFF2-40B4-BE49-F238E27FC236}">
                <a16:creationId xmlns:a16="http://schemas.microsoft.com/office/drawing/2014/main" xmlns="" id="{E6DA5ABC-4361-4C66-9D90-28E914407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3" descr="5">
            <a:extLst>
              <a:ext uri="{FF2B5EF4-FFF2-40B4-BE49-F238E27FC236}">
                <a16:creationId xmlns:a16="http://schemas.microsoft.com/office/drawing/2014/main" xmlns="" id="{0BC5961C-5CA5-463C-BDE6-361BA2F3B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46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Macros da Operação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850006" y="1283372"/>
            <a:ext cx="893793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As mensagens enviadas para a Central de Monitoramento são chamadas de MACROS.</a:t>
            </a:r>
          </a:p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As Macros são textos pré-elaborados ou seja, que já estão prontos.</a:t>
            </a:r>
          </a:p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Sendo necessário apenas selecionar a Macro correspondente ao tipo de ocorrência e enviar a Central de Monitoramento.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31" y="4552504"/>
            <a:ext cx="5798571" cy="1800000"/>
          </a:xfrm>
          <a:prstGeom prst="rect">
            <a:avLst/>
          </a:prstGeom>
        </p:spPr>
      </p:pic>
      <p:pic>
        <p:nvPicPr>
          <p:cNvPr id="6" name="Picture 13" descr="5">
            <a:extLst>
              <a:ext uri="{FF2B5EF4-FFF2-40B4-BE49-F238E27FC236}">
                <a16:creationId xmlns:a16="http://schemas.microsoft.com/office/drawing/2014/main" xmlns="" id="{368129DF-A8AF-4FC5-96EC-7C4E5205CE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3" descr="5">
            <a:extLst>
              <a:ext uri="{FF2B5EF4-FFF2-40B4-BE49-F238E27FC236}">
                <a16:creationId xmlns:a16="http://schemas.microsoft.com/office/drawing/2014/main" xmlns="" id="{569A8119-5053-40FB-80B7-B249E4BEB3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3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79372E-7 1.11111E-6 L -0.76577 -0.0055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96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Teclado de Comunicação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850005" y="1957747"/>
            <a:ext cx="89379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O envio das Macros, é dado  através do Teclado de Comunicação, um equipamento instalado em seu caminhão, que utiliza o sistema de rastreamento para interligar você a Central de Monitoramento.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pic>
        <p:nvPicPr>
          <p:cNvPr id="6" name="Picture 13" descr="5">
            <a:extLst>
              <a:ext uri="{FF2B5EF4-FFF2-40B4-BE49-F238E27FC236}">
                <a16:creationId xmlns:a16="http://schemas.microsoft.com/office/drawing/2014/main" xmlns="" id="{15F4E77A-439E-4D7F-AA03-970A97505D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3" descr="5">
            <a:extLst>
              <a:ext uri="{FF2B5EF4-FFF2-40B4-BE49-F238E27FC236}">
                <a16:creationId xmlns:a16="http://schemas.microsoft.com/office/drawing/2014/main" xmlns="" id="{EEBFB557-9A27-4211-AA96-B559BDD96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59817603-82B0-4493-BA9B-B4BF8B8FE7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0492" y="3386676"/>
            <a:ext cx="4153480" cy="23911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8246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Macros da Operação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850006" y="1448899"/>
            <a:ext cx="893793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As macros, geralmente são utilizadas para confirmar situações previstas, como:</a:t>
            </a:r>
          </a:p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o início de jornada e viagem</a:t>
            </a: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as paradas programadas</a:t>
            </a: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reinício de viagem</a:t>
            </a: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chegada ao cliente de coleta ou entrega</a:t>
            </a: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carregamentos ou descarregamentos</a:t>
            </a: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  <a:p>
            <a:pPr marL="800100" lvl="1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o fim de jornada e viagem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pic>
        <p:nvPicPr>
          <p:cNvPr id="6" name="Picture 13" descr="5">
            <a:extLst>
              <a:ext uri="{FF2B5EF4-FFF2-40B4-BE49-F238E27FC236}">
                <a16:creationId xmlns:a16="http://schemas.microsoft.com/office/drawing/2014/main" xmlns="" id="{2856BC17-0D3B-4F51-A61B-5F0C2B1F08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3" descr="5">
            <a:extLst>
              <a:ext uri="{FF2B5EF4-FFF2-40B4-BE49-F238E27FC236}">
                <a16:creationId xmlns:a16="http://schemas.microsoft.com/office/drawing/2014/main" xmlns="" id="{472BCFB6-1138-4963-9BF0-38AE9E6BD9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80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0006" y="123462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Macros da Operação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sp>
        <p:nvSpPr>
          <p:cNvPr id="7" name="Rectangle 10"/>
          <p:cNvSpPr/>
          <p:nvPr/>
        </p:nvSpPr>
        <p:spPr>
          <a:xfrm>
            <a:off x="563372" y="2585653"/>
            <a:ext cx="2780297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Início de Viagem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4"/>
          <p:cNvSpPr/>
          <p:nvPr/>
        </p:nvSpPr>
        <p:spPr>
          <a:xfrm>
            <a:off x="6896276" y="4437346"/>
            <a:ext cx="2793946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Parada Acidente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Rectangle 10"/>
          <p:cNvSpPr/>
          <p:nvPr/>
        </p:nvSpPr>
        <p:spPr>
          <a:xfrm>
            <a:off x="563372" y="3209051"/>
            <a:ext cx="2780297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Parada Refeição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Rectangle 14"/>
          <p:cNvSpPr/>
          <p:nvPr/>
        </p:nvSpPr>
        <p:spPr>
          <a:xfrm>
            <a:off x="3705907" y="3220906"/>
            <a:ext cx="2793946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Parada Pernoite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Rectangle 10"/>
          <p:cNvSpPr/>
          <p:nvPr/>
        </p:nvSpPr>
        <p:spPr>
          <a:xfrm>
            <a:off x="2119818" y="5284839"/>
            <a:ext cx="2780297" cy="457200"/>
          </a:xfrm>
          <a:prstGeom prst="roundRect">
            <a:avLst/>
          </a:prstGeom>
          <a:solidFill>
            <a:schemeClr val="accent2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Desengate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Rectangle 14"/>
          <p:cNvSpPr/>
          <p:nvPr/>
        </p:nvSpPr>
        <p:spPr>
          <a:xfrm>
            <a:off x="3743029" y="3838415"/>
            <a:ext cx="2793946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Parada Manutenção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 10"/>
          <p:cNvSpPr/>
          <p:nvPr/>
        </p:nvSpPr>
        <p:spPr>
          <a:xfrm>
            <a:off x="563372" y="3832449"/>
            <a:ext cx="2780297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Parada Banheiro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Rectangle 14"/>
          <p:cNvSpPr/>
          <p:nvPr/>
        </p:nvSpPr>
        <p:spPr>
          <a:xfrm>
            <a:off x="3743029" y="4429013"/>
            <a:ext cx="2793946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Chegada Cliente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Rectangle 10"/>
          <p:cNvSpPr/>
          <p:nvPr/>
        </p:nvSpPr>
        <p:spPr>
          <a:xfrm>
            <a:off x="563372" y="4428572"/>
            <a:ext cx="2780297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Parada Abastecimento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5" name="Rectangle 10"/>
          <p:cNvSpPr/>
          <p:nvPr/>
        </p:nvSpPr>
        <p:spPr>
          <a:xfrm>
            <a:off x="6896276" y="2617127"/>
            <a:ext cx="2780297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Reinício de Viagem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Rectangle 14"/>
          <p:cNvSpPr/>
          <p:nvPr/>
        </p:nvSpPr>
        <p:spPr>
          <a:xfrm>
            <a:off x="6889451" y="3252673"/>
            <a:ext cx="2793946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Transito Lento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5" name="Rectangle 9"/>
          <p:cNvSpPr/>
          <p:nvPr/>
        </p:nvSpPr>
        <p:spPr>
          <a:xfrm>
            <a:off x="3632941" y="2607676"/>
            <a:ext cx="2939878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Parada Posto Fiscal / PRF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" name="Rectangle 14"/>
          <p:cNvSpPr/>
          <p:nvPr/>
        </p:nvSpPr>
        <p:spPr>
          <a:xfrm>
            <a:off x="6896276" y="3832449"/>
            <a:ext cx="2793946" cy="4572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Fim de Viagem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Rectangle 14"/>
          <p:cNvSpPr/>
          <p:nvPr/>
        </p:nvSpPr>
        <p:spPr>
          <a:xfrm>
            <a:off x="5310187" y="5284839"/>
            <a:ext cx="2793946" cy="457200"/>
          </a:xfrm>
          <a:prstGeom prst="roundRect">
            <a:avLst/>
          </a:prstGeom>
          <a:solidFill>
            <a:schemeClr val="accent2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Texto Livre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441D65CF-42CB-4673-BBE2-F55CE09B3D3B}"/>
              </a:ext>
            </a:extLst>
          </p:cNvPr>
          <p:cNvSpPr txBox="1"/>
          <p:nvPr/>
        </p:nvSpPr>
        <p:spPr>
          <a:xfrm>
            <a:off x="1434904" y="623178"/>
            <a:ext cx="8576002" cy="175432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2060"/>
                </a:solidFill>
              </a:rPr>
              <a:t>As Macros da operação SVD são informadas de forma sequencias, sendo assim,</a:t>
            </a:r>
          </a:p>
          <a:p>
            <a:r>
              <a:rPr lang="pt-BR" dirty="0">
                <a:solidFill>
                  <a:srgbClr val="002060"/>
                </a:solidFill>
              </a:rPr>
              <a:t>Uma só estará disponível, após o informe da outra;</a:t>
            </a:r>
          </a:p>
          <a:p>
            <a:r>
              <a:rPr lang="pt-BR" b="1" dirty="0" err="1">
                <a:solidFill>
                  <a:srgbClr val="002060"/>
                </a:solidFill>
              </a:rPr>
              <a:t>Ex</a:t>
            </a:r>
            <a:r>
              <a:rPr lang="pt-BR" b="1" dirty="0">
                <a:solidFill>
                  <a:srgbClr val="002060"/>
                </a:solidFill>
              </a:rPr>
              <a:t>:  </a:t>
            </a:r>
            <a:r>
              <a:rPr lang="pt-BR" dirty="0">
                <a:solidFill>
                  <a:srgbClr val="002060"/>
                </a:solidFill>
              </a:rPr>
              <a:t>Para conseguir informar o </a:t>
            </a:r>
            <a:r>
              <a:rPr lang="pt-BR" b="1" u="sng" dirty="0">
                <a:solidFill>
                  <a:srgbClr val="002060"/>
                </a:solidFill>
              </a:rPr>
              <a:t>Inicio de Viagem </a:t>
            </a:r>
            <a:r>
              <a:rPr lang="pt-BR" dirty="0">
                <a:solidFill>
                  <a:srgbClr val="002060"/>
                </a:solidFill>
              </a:rPr>
              <a:t>o condutor devera estar com a macro de  </a:t>
            </a:r>
          </a:p>
          <a:p>
            <a:r>
              <a:rPr lang="pt-BR" b="1" u="sng" dirty="0">
                <a:solidFill>
                  <a:srgbClr val="002060"/>
                </a:solidFill>
              </a:rPr>
              <a:t>Fim de viagem ou Desengate</a:t>
            </a:r>
            <a:r>
              <a:rPr lang="pt-BR" dirty="0">
                <a:solidFill>
                  <a:srgbClr val="002060"/>
                </a:solidFill>
              </a:rPr>
              <a:t> ativa no teclado, as únicas disponíveis serão as de paradas, </a:t>
            </a:r>
          </a:p>
          <a:p>
            <a:r>
              <a:rPr lang="pt-BR" dirty="0">
                <a:solidFill>
                  <a:srgbClr val="002060"/>
                </a:solidFill>
              </a:rPr>
              <a:t>caso a macro ativa seja uma de parada, a única disponível será </a:t>
            </a:r>
          </a:p>
          <a:p>
            <a:r>
              <a:rPr lang="pt-BR" b="1" u="sng" dirty="0">
                <a:solidFill>
                  <a:srgbClr val="002060"/>
                </a:solidFill>
              </a:rPr>
              <a:t>Reinicio de Viagem;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26" name="Picture 13" descr="5">
            <a:extLst>
              <a:ext uri="{FF2B5EF4-FFF2-40B4-BE49-F238E27FC236}">
                <a16:creationId xmlns:a16="http://schemas.microsoft.com/office/drawing/2014/main" xmlns="" id="{B396EE45-B071-4CF0-A488-DACEB3CD1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3" descr="5">
            <a:extLst>
              <a:ext uri="{FF2B5EF4-FFF2-40B4-BE49-F238E27FC236}">
                <a16:creationId xmlns:a16="http://schemas.microsoft.com/office/drawing/2014/main" xmlns="" id="{7F1847D6-658A-4B53-8288-DCE375F033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90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" grpId="0" animBg="1"/>
      <p:bldP spid="11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55" grpId="0" animBg="1"/>
      <p:bldP spid="58" grpId="0" animBg="1"/>
      <p:bldP spid="62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Procedimento de Início de Viagem</a:t>
            </a:r>
          </a:p>
        </p:txBody>
      </p:sp>
      <p:sp>
        <p:nvSpPr>
          <p:cNvPr id="2" name="Retângulo 1"/>
          <p:cNvSpPr/>
          <p:nvPr/>
        </p:nvSpPr>
        <p:spPr>
          <a:xfrm>
            <a:off x="850006" y="1294351"/>
            <a:ext cx="8937938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Para iniciar uma viagem você deve se preparar antecipadamente para enfrentar esta jornada. </a:t>
            </a:r>
          </a:p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  <a:p>
            <a:pPr algn="just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Então vai lá algumas dicas:</a:t>
            </a:r>
          </a:p>
          <a:p>
            <a:pPr marL="342900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Verifique todas as documentações, se elas estão disponíveis, atualizadas e organizadas dentro do veiculo (</a:t>
            </a:r>
            <a:r>
              <a:rPr lang="pt-BR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CNH, Identidade, Documentos NF/CTRC, Documentos do Veículo</a:t>
            </a:r>
            <a:r>
              <a:rPr lang="pt-BR" sz="20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Avalie seu veiculo, que precisa estar em perfeitas condições para a viagem, com a manutenção em dia e abastecido. </a:t>
            </a:r>
          </a:p>
          <a:p>
            <a:pPr marL="342900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Não tome bebidas alcoólicas, nem mesmo na noite anterior a viagem;</a:t>
            </a:r>
          </a:p>
          <a:p>
            <a:pPr marL="342900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Tenha uma boa noite de sono;</a:t>
            </a:r>
          </a:p>
          <a:p>
            <a:pPr marL="342900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dirty="0">
                <a:solidFill>
                  <a:srgbClr val="002060"/>
                </a:solidFill>
                <a:ea typeface="Arial Unicode MS" pitchFamily="2"/>
                <a:cs typeface="Arial" panose="020B0604020202020204" pitchFamily="34" charset="0"/>
              </a:rPr>
              <a:t>Se organize, para resolver todas a suas pendências antes da viagem, para que você mantenha o máximo possível sua cabeça livre e focada na jornada.</a:t>
            </a:r>
          </a:p>
          <a:p>
            <a:pPr marL="342900" indent="-342900" algn="just">
              <a:buFontTx/>
              <a:buChar char="-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altLang="pt-BR" sz="2000" dirty="0">
                <a:solidFill>
                  <a:srgbClr val="002060"/>
                </a:solidFill>
              </a:rPr>
              <a:t>Não comente sobre a viagem ou dê informações sobre a carga a ninguém, afim de evitar que essas informações cheguem aos ouvidos de criminosos.</a:t>
            </a:r>
            <a:endParaRPr lang="pt-BR" sz="2000" dirty="0">
              <a:solidFill>
                <a:srgbClr val="002060"/>
              </a:solidFill>
              <a:ea typeface="Arial Unicode MS" pitchFamily="2"/>
              <a:cs typeface="Arial" panose="020B060402020202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pic>
        <p:nvPicPr>
          <p:cNvPr id="6" name="Picture 13" descr="5">
            <a:extLst>
              <a:ext uri="{FF2B5EF4-FFF2-40B4-BE49-F238E27FC236}">
                <a16:creationId xmlns:a16="http://schemas.microsoft.com/office/drawing/2014/main" xmlns="" id="{B325439B-8B6E-4498-A039-DE8922AFD4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3" descr="5">
            <a:extLst>
              <a:ext uri="{FF2B5EF4-FFF2-40B4-BE49-F238E27FC236}">
                <a16:creationId xmlns:a16="http://schemas.microsoft.com/office/drawing/2014/main" xmlns="" id="{554D0B43-3914-4F1C-81FF-D8D2913B1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150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Procedimento de Início de Viagem</a:t>
            </a:r>
          </a:p>
        </p:txBody>
      </p:sp>
      <p:sp>
        <p:nvSpPr>
          <p:cNvPr id="2" name="Retângulo 1"/>
          <p:cNvSpPr/>
          <p:nvPr/>
        </p:nvSpPr>
        <p:spPr>
          <a:xfrm>
            <a:off x="850006" y="1448899"/>
            <a:ext cx="8937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Para dar início a viagem, deverá enviar a Macro de Início de Viagem, através do teclado de comunicação.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grpSp>
        <p:nvGrpSpPr>
          <p:cNvPr id="37" name="Grupo 36"/>
          <p:cNvGrpSpPr/>
          <p:nvPr/>
        </p:nvGrpSpPr>
        <p:grpSpPr>
          <a:xfrm>
            <a:off x="1878460" y="2672503"/>
            <a:ext cx="6881029" cy="3680001"/>
            <a:chOff x="1009064" y="1161754"/>
            <a:chExt cx="8500057" cy="5397833"/>
          </a:xfrm>
        </p:grpSpPr>
        <p:grpSp>
          <p:nvGrpSpPr>
            <p:cNvPr id="38" name="Grupo 37"/>
            <p:cNvGrpSpPr/>
            <p:nvPr/>
          </p:nvGrpSpPr>
          <p:grpSpPr>
            <a:xfrm>
              <a:off x="8525476" y="1161754"/>
              <a:ext cx="983645" cy="1642766"/>
              <a:chOff x="7957488" y="1548600"/>
              <a:chExt cx="983645" cy="1642766"/>
            </a:xfrm>
          </p:grpSpPr>
          <p:pic>
            <p:nvPicPr>
              <p:cNvPr id="64" name="Imagem 6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7488" y="1943591"/>
                <a:ext cx="981075" cy="1247775"/>
              </a:xfrm>
              <a:prstGeom prst="rect">
                <a:avLst/>
              </a:prstGeom>
            </p:spPr>
          </p:pic>
          <p:sp>
            <p:nvSpPr>
              <p:cNvPr id="65" name="Retângulo 64"/>
              <p:cNvSpPr/>
              <p:nvPr/>
            </p:nvSpPr>
            <p:spPr>
              <a:xfrm>
                <a:off x="7983145" y="1548600"/>
                <a:ext cx="957988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GPS</a:t>
                </a:r>
              </a:p>
            </p:txBody>
          </p:sp>
        </p:grpSp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39413" y="5539203"/>
              <a:ext cx="822945" cy="900000"/>
            </a:xfrm>
            <a:prstGeom prst="rect">
              <a:avLst/>
            </a:prstGeom>
          </p:spPr>
        </p:pic>
        <p:grpSp>
          <p:nvGrpSpPr>
            <p:cNvPr id="41" name="Grupo 40"/>
            <p:cNvGrpSpPr/>
            <p:nvPr/>
          </p:nvGrpSpPr>
          <p:grpSpPr>
            <a:xfrm>
              <a:off x="1009064" y="1203823"/>
              <a:ext cx="1156215" cy="1576090"/>
              <a:chOff x="1723421" y="1548600"/>
              <a:chExt cx="1156215" cy="1576090"/>
            </a:xfrm>
          </p:grpSpPr>
          <p:pic>
            <p:nvPicPr>
              <p:cNvPr id="62" name="Imagem 6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9079" y="2010265"/>
                <a:ext cx="1104900" cy="1114425"/>
              </a:xfrm>
              <a:prstGeom prst="rect">
                <a:avLst/>
              </a:prstGeom>
              <a:noFill/>
            </p:spPr>
          </p:pic>
          <p:sp>
            <p:nvSpPr>
              <p:cNvPr id="63" name="Retângulo 62"/>
              <p:cNvSpPr/>
              <p:nvPr/>
            </p:nvSpPr>
            <p:spPr>
              <a:xfrm>
                <a:off x="1723421" y="1548600"/>
                <a:ext cx="1156215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Satélite</a:t>
                </a: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3026177" y="4163746"/>
              <a:ext cx="1611029" cy="2395841"/>
              <a:chOff x="1600821" y="4080141"/>
              <a:chExt cx="1611029" cy="2395841"/>
            </a:xfrm>
          </p:grpSpPr>
          <p:pic>
            <p:nvPicPr>
              <p:cNvPr id="60" name="Imagem 5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1499" y="4080141"/>
                <a:ext cx="1209675" cy="1447800"/>
              </a:xfrm>
              <a:prstGeom prst="rect">
                <a:avLst/>
              </a:prstGeom>
            </p:spPr>
          </p:pic>
          <p:sp>
            <p:nvSpPr>
              <p:cNvPr id="61" name="Retângulo 60"/>
              <p:cNvSpPr/>
              <p:nvPr/>
            </p:nvSpPr>
            <p:spPr>
              <a:xfrm>
                <a:off x="1600821" y="5527942"/>
                <a:ext cx="1611029" cy="948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Empresa de Tecnologia</a:t>
                </a:r>
              </a:p>
            </p:txBody>
          </p:sp>
        </p:grpSp>
        <p:grpSp>
          <p:nvGrpSpPr>
            <p:cNvPr id="43" name="Grupo 42"/>
            <p:cNvGrpSpPr/>
            <p:nvPr/>
          </p:nvGrpSpPr>
          <p:grpSpPr>
            <a:xfrm>
              <a:off x="8101207" y="3871222"/>
              <a:ext cx="1358824" cy="1425215"/>
              <a:chOff x="7579739" y="4642562"/>
              <a:chExt cx="1358824" cy="1425215"/>
            </a:xfrm>
          </p:grpSpPr>
          <p:pic>
            <p:nvPicPr>
              <p:cNvPr id="58" name="Imagem 5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79739" y="4642562"/>
                <a:ext cx="1358824" cy="900000"/>
              </a:xfrm>
              <a:prstGeom prst="rect">
                <a:avLst/>
              </a:prstGeom>
            </p:spPr>
          </p:pic>
          <p:sp>
            <p:nvSpPr>
              <p:cNvPr id="59" name="Retângulo 58"/>
              <p:cNvSpPr/>
              <p:nvPr/>
            </p:nvSpPr>
            <p:spPr>
              <a:xfrm>
                <a:off x="7681043" y="5526040"/>
                <a:ext cx="1156216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Veículo</a:t>
                </a:r>
              </a:p>
            </p:txBody>
          </p:sp>
        </p:grpSp>
        <p:cxnSp>
          <p:nvCxnSpPr>
            <p:cNvPr id="44" name="Conector de seta reta 43"/>
            <p:cNvCxnSpPr/>
            <p:nvPr/>
          </p:nvCxnSpPr>
          <p:spPr>
            <a:xfrm>
              <a:off x="8917098" y="2920619"/>
              <a:ext cx="7961" cy="3377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/>
            <p:cNvCxnSpPr/>
            <p:nvPr/>
          </p:nvCxnSpPr>
          <p:spPr>
            <a:xfrm>
              <a:off x="2232565" y="1491728"/>
              <a:ext cx="405651" cy="1567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/>
            <p:nvPr/>
          </p:nvCxnSpPr>
          <p:spPr>
            <a:xfrm flipH="1" flipV="1">
              <a:off x="7255611" y="4294280"/>
              <a:ext cx="402513" cy="1559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/>
            <p:cNvCxnSpPr/>
            <p:nvPr/>
          </p:nvCxnSpPr>
          <p:spPr>
            <a:xfrm>
              <a:off x="2047741" y="2804520"/>
              <a:ext cx="360608" cy="224301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/>
            <p:nvPr/>
          </p:nvCxnSpPr>
          <p:spPr>
            <a:xfrm flipH="1" flipV="1">
              <a:off x="2820477" y="3968807"/>
              <a:ext cx="321796" cy="19493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/>
            <p:cNvCxnSpPr/>
            <p:nvPr/>
          </p:nvCxnSpPr>
          <p:spPr>
            <a:xfrm flipV="1">
              <a:off x="4619553" y="5718644"/>
              <a:ext cx="326475" cy="105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/>
            <p:nvPr/>
          </p:nvCxnSpPr>
          <p:spPr>
            <a:xfrm flipH="1" flipV="1">
              <a:off x="5330248" y="5978159"/>
              <a:ext cx="299094" cy="100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 flipH="1">
              <a:off x="4619554" y="5989203"/>
              <a:ext cx="936074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to 51"/>
            <p:cNvCxnSpPr/>
            <p:nvPr/>
          </p:nvCxnSpPr>
          <p:spPr>
            <a:xfrm flipH="1" flipV="1">
              <a:off x="1609859" y="3096329"/>
              <a:ext cx="1567528" cy="1115373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to 52"/>
            <p:cNvCxnSpPr/>
            <p:nvPr/>
          </p:nvCxnSpPr>
          <p:spPr>
            <a:xfrm>
              <a:off x="2258323" y="1493939"/>
              <a:ext cx="5198545" cy="2222735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to 53"/>
            <p:cNvCxnSpPr/>
            <p:nvPr/>
          </p:nvCxnSpPr>
          <p:spPr>
            <a:xfrm>
              <a:off x="8925057" y="2920619"/>
              <a:ext cx="0" cy="796055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/>
            <p:cNvCxnSpPr/>
            <p:nvPr/>
          </p:nvCxnSpPr>
          <p:spPr>
            <a:xfrm flipH="1" flipV="1">
              <a:off x="2501393" y="2214810"/>
              <a:ext cx="5045627" cy="219306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/>
            <p:nvPr/>
          </p:nvCxnSpPr>
          <p:spPr>
            <a:xfrm>
              <a:off x="2206807" y="2895824"/>
              <a:ext cx="1579581" cy="1091309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/>
            <p:cNvCxnSpPr/>
            <p:nvPr/>
          </p:nvCxnSpPr>
          <p:spPr>
            <a:xfrm>
              <a:off x="4619553" y="5719509"/>
              <a:ext cx="1009789" cy="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tângulo de cantos arredondados 2"/>
          <p:cNvSpPr/>
          <p:nvPr/>
        </p:nvSpPr>
        <p:spPr>
          <a:xfrm>
            <a:off x="7516984" y="5197708"/>
            <a:ext cx="1330037" cy="714894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516984" y="5255097"/>
            <a:ext cx="13300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Início de Viagem</a:t>
            </a:r>
            <a:endParaRPr lang="pt-BR" dirty="0"/>
          </a:p>
        </p:txBody>
      </p:sp>
      <p:sp>
        <p:nvSpPr>
          <p:cNvPr id="67" name="Retângulo de cantos arredondados 66"/>
          <p:cNvSpPr/>
          <p:nvPr/>
        </p:nvSpPr>
        <p:spPr>
          <a:xfrm>
            <a:off x="11163233" y="2324207"/>
            <a:ext cx="7747462" cy="3805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altLang="pt-BR" sz="2800" dirty="0"/>
              <a:t>Alguns comandos </a:t>
            </a:r>
            <a:r>
              <a:rPr lang="pt-BR" altLang="pt-BR" sz="2800" b="1" i="1" dirty="0"/>
              <a:t>poderão ser  </a:t>
            </a:r>
            <a:r>
              <a:rPr lang="pt-BR" altLang="pt-BR" sz="2800" dirty="0"/>
              <a:t>acionados, como por exemplo:</a:t>
            </a:r>
          </a:p>
          <a:p>
            <a:pPr algn="just"/>
            <a:endParaRPr lang="pt-BR" altLang="pt-BR" sz="2800" dirty="0"/>
          </a:p>
          <a:p>
            <a:pPr algn="just"/>
            <a:r>
              <a:rPr lang="pt-BR" altLang="pt-BR" sz="2800" dirty="0"/>
              <a:t>1) Os sensores das portas da cabine;</a:t>
            </a:r>
          </a:p>
          <a:p>
            <a:pPr algn="just"/>
            <a:r>
              <a:rPr lang="pt-BR" altLang="pt-BR" sz="2800" dirty="0"/>
              <a:t>2) O sensor de desengate;</a:t>
            </a:r>
          </a:p>
          <a:p>
            <a:pPr algn="just"/>
            <a:r>
              <a:rPr lang="pt-BR" altLang="pt-BR" sz="2800" dirty="0"/>
              <a:t>3) Entre outros.</a:t>
            </a:r>
          </a:p>
        </p:txBody>
      </p:sp>
      <p:pic>
        <p:nvPicPr>
          <p:cNvPr id="36" name="Picture 13" descr="5">
            <a:extLst>
              <a:ext uri="{FF2B5EF4-FFF2-40B4-BE49-F238E27FC236}">
                <a16:creationId xmlns:a16="http://schemas.microsoft.com/office/drawing/2014/main" xmlns="" id="{646B770A-1059-4533-AA1B-0658719234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" descr="5">
            <a:extLst>
              <a:ext uri="{FF2B5EF4-FFF2-40B4-BE49-F238E27FC236}">
                <a16:creationId xmlns:a16="http://schemas.microsoft.com/office/drawing/2014/main" xmlns="" id="{99B641E1-7B55-4DD8-B60B-48E6DD707D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90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441E-6 -3.7037E-6 L -0.87429 -0.0113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22" y="-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3" grpId="0" animBg="1"/>
      <p:bldP spid="6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grpSp>
        <p:nvGrpSpPr>
          <p:cNvPr id="37" name="Grupo 36"/>
          <p:cNvGrpSpPr/>
          <p:nvPr/>
        </p:nvGrpSpPr>
        <p:grpSpPr>
          <a:xfrm>
            <a:off x="1965992" y="2695416"/>
            <a:ext cx="6881029" cy="3680001"/>
            <a:chOff x="1009064" y="1161754"/>
            <a:chExt cx="8500057" cy="5397833"/>
          </a:xfrm>
        </p:grpSpPr>
        <p:grpSp>
          <p:nvGrpSpPr>
            <p:cNvPr id="38" name="Grupo 37"/>
            <p:cNvGrpSpPr/>
            <p:nvPr/>
          </p:nvGrpSpPr>
          <p:grpSpPr>
            <a:xfrm>
              <a:off x="8525476" y="1161754"/>
              <a:ext cx="983645" cy="1642766"/>
              <a:chOff x="7957488" y="1548600"/>
              <a:chExt cx="983645" cy="1642766"/>
            </a:xfrm>
          </p:grpSpPr>
          <p:pic>
            <p:nvPicPr>
              <p:cNvPr id="64" name="Imagem 6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7488" y="1943591"/>
                <a:ext cx="981075" cy="1247775"/>
              </a:xfrm>
              <a:prstGeom prst="rect">
                <a:avLst/>
              </a:prstGeom>
            </p:spPr>
          </p:pic>
          <p:sp>
            <p:nvSpPr>
              <p:cNvPr id="65" name="Retângulo 64"/>
              <p:cNvSpPr/>
              <p:nvPr/>
            </p:nvSpPr>
            <p:spPr>
              <a:xfrm>
                <a:off x="7983145" y="1548600"/>
                <a:ext cx="957988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GPS</a:t>
                </a:r>
              </a:p>
            </p:txBody>
          </p:sp>
        </p:grpSp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39413" y="5539203"/>
              <a:ext cx="822945" cy="900000"/>
            </a:xfrm>
            <a:prstGeom prst="rect">
              <a:avLst/>
            </a:prstGeom>
          </p:spPr>
        </p:pic>
        <p:grpSp>
          <p:nvGrpSpPr>
            <p:cNvPr id="41" name="Grupo 40"/>
            <p:cNvGrpSpPr/>
            <p:nvPr/>
          </p:nvGrpSpPr>
          <p:grpSpPr>
            <a:xfrm>
              <a:off x="1009064" y="1203823"/>
              <a:ext cx="1156215" cy="1576090"/>
              <a:chOff x="1723421" y="1548600"/>
              <a:chExt cx="1156215" cy="1576090"/>
            </a:xfrm>
          </p:grpSpPr>
          <p:pic>
            <p:nvPicPr>
              <p:cNvPr id="62" name="Imagem 6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9079" y="2010265"/>
                <a:ext cx="1104900" cy="1114425"/>
              </a:xfrm>
              <a:prstGeom prst="rect">
                <a:avLst/>
              </a:prstGeom>
              <a:noFill/>
            </p:spPr>
          </p:pic>
          <p:sp>
            <p:nvSpPr>
              <p:cNvPr id="63" name="Retângulo 62"/>
              <p:cNvSpPr/>
              <p:nvPr/>
            </p:nvSpPr>
            <p:spPr>
              <a:xfrm>
                <a:off x="1723421" y="1548600"/>
                <a:ext cx="1156215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Satélite</a:t>
                </a: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3026177" y="4163746"/>
              <a:ext cx="1611029" cy="2395841"/>
              <a:chOff x="1600821" y="4080141"/>
              <a:chExt cx="1611029" cy="2395841"/>
            </a:xfrm>
          </p:grpSpPr>
          <p:pic>
            <p:nvPicPr>
              <p:cNvPr id="60" name="Imagem 5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1499" y="4080141"/>
                <a:ext cx="1209675" cy="1447800"/>
              </a:xfrm>
              <a:prstGeom prst="rect">
                <a:avLst/>
              </a:prstGeom>
            </p:spPr>
          </p:pic>
          <p:sp>
            <p:nvSpPr>
              <p:cNvPr id="61" name="Retângulo 60"/>
              <p:cNvSpPr/>
              <p:nvPr/>
            </p:nvSpPr>
            <p:spPr>
              <a:xfrm>
                <a:off x="1600821" y="5527942"/>
                <a:ext cx="1611029" cy="948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Empresa de Tecnologia</a:t>
                </a:r>
              </a:p>
            </p:txBody>
          </p:sp>
        </p:grpSp>
        <p:grpSp>
          <p:nvGrpSpPr>
            <p:cNvPr id="43" name="Grupo 42"/>
            <p:cNvGrpSpPr/>
            <p:nvPr/>
          </p:nvGrpSpPr>
          <p:grpSpPr>
            <a:xfrm>
              <a:off x="8101207" y="3871222"/>
              <a:ext cx="1358824" cy="1425215"/>
              <a:chOff x="7579739" y="4642562"/>
              <a:chExt cx="1358824" cy="1425215"/>
            </a:xfrm>
          </p:grpSpPr>
          <p:pic>
            <p:nvPicPr>
              <p:cNvPr id="58" name="Imagem 5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79739" y="4642562"/>
                <a:ext cx="1358824" cy="900000"/>
              </a:xfrm>
              <a:prstGeom prst="rect">
                <a:avLst/>
              </a:prstGeom>
            </p:spPr>
          </p:pic>
          <p:sp>
            <p:nvSpPr>
              <p:cNvPr id="59" name="Retângulo 58"/>
              <p:cNvSpPr/>
              <p:nvPr/>
            </p:nvSpPr>
            <p:spPr>
              <a:xfrm>
                <a:off x="7681043" y="5526040"/>
                <a:ext cx="1156216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Veículo</a:t>
                </a:r>
              </a:p>
            </p:txBody>
          </p:sp>
        </p:grpSp>
        <p:cxnSp>
          <p:nvCxnSpPr>
            <p:cNvPr id="44" name="Conector de seta reta 43"/>
            <p:cNvCxnSpPr/>
            <p:nvPr/>
          </p:nvCxnSpPr>
          <p:spPr>
            <a:xfrm>
              <a:off x="8917098" y="2920619"/>
              <a:ext cx="7961" cy="3377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/>
            <p:cNvCxnSpPr/>
            <p:nvPr/>
          </p:nvCxnSpPr>
          <p:spPr>
            <a:xfrm>
              <a:off x="2232565" y="1491728"/>
              <a:ext cx="405651" cy="1567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/>
            <p:nvPr/>
          </p:nvCxnSpPr>
          <p:spPr>
            <a:xfrm flipH="1" flipV="1">
              <a:off x="7255611" y="4294280"/>
              <a:ext cx="402513" cy="1559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/>
            <p:cNvCxnSpPr/>
            <p:nvPr/>
          </p:nvCxnSpPr>
          <p:spPr>
            <a:xfrm>
              <a:off x="2047741" y="2804520"/>
              <a:ext cx="360608" cy="224301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/>
            <p:nvPr/>
          </p:nvCxnSpPr>
          <p:spPr>
            <a:xfrm flipH="1" flipV="1">
              <a:off x="2820477" y="3968807"/>
              <a:ext cx="321796" cy="19493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/>
            <p:cNvCxnSpPr/>
            <p:nvPr/>
          </p:nvCxnSpPr>
          <p:spPr>
            <a:xfrm flipV="1">
              <a:off x="4619553" y="5718644"/>
              <a:ext cx="326475" cy="105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/>
            <p:nvPr/>
          </p:nvCxnSpPr>
          <p:spPr>
            <a:xfrm flipH="1" flipV="1">
              <a:off x="5330248" y="5978159"/>
              <a:ext cx="299094" cy="100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 flipH="1">
              <a:off x="4619554" y="5989203"/>
              <a:ext cx="936074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to 51"/>
            <p:cNvCxnSpPr/>
            <p:nvPr/>
          </p:nvCxnSpPr>
          <p:spPr>
            <a:xfrm flipH="1" flipV="1">
              <a:off x="1609859" y="3096329"/>
              <a:ext cx="1567528" cy="1115373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to 52"/>
            <p:cNvCxnSpPr/>
            <p:nvPr/>
          </p:nvCxnSpPr>
          <p:spPr>
            <a:xfrm>
              <a:off x="2258323" y="1493939"/>
              <a:ext cx="5198545" cy="2222735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to 53"/>
            <p:cNvCxnSpPr/>
            <p:nvPr/>
          </p:nvCxnSpPr>
          <p:spPr>
            <a:xfrm>
              <a:off x="8925057" y="2920619"/>
              <a:ext cx="0" cy="796055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/>
            <p:cNvCxnSpPr/>
            <p:nvPr/>
          </p:nvCxnSpPr>
          <p:spPr>
            <a:xfrm flipH="1" flipV="1">
              <a:off x="2501393" y="2214810"/>
              <a:ext cx="5045627" cy="219306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/>
            <p:nvPr/>
          </p:nvCxnSpPr>
          <p:spPr>
            <a:xfrm>
              <a:off x="2206807" y="2895824"/>
              <a:ext cx="1579581" cy="1091309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/>
            <p:cNvCxnSpPr/>
            <p:nvPr/>
          </p:nvCxnSpPr>
          <p:spPr>
            <a:xfrm>
              <a:off x="4619553" y="5719509"/>
              <a:ext cx="1009789" cy="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tângulo de cantos arredondados 2"/>
          <p:cNvSpPr/>
          <p:nvPr/>
        </p:nvSpPr>
        <p:spPr>
          <a:xfrm>
            <a:off x="7516984" y="5197708"/>
            <a:ext cx="1330037" cy="714894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516984" y="5375412"/>
            <a:ext cx="13300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Paradas</a:t>
            </a:r>
            <a:endParaRPr lang="pt-BR" dirty="0"/>
          </a:p>
        </p:txBody>
      </p:sp>
      <p:sp>
        <p:nvSpPr>
          <p:cNvPr id="66" name="Retângulo 6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Procedimento de Paradas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850006" y="1448899"/>
            <a:ext cx="8937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Para realizar uma parada, deverá enviar a Macro de Parada, correspondente ao motivo, através do teclado de comunicação.</a:t>
            </a:r>
          </a:p>
        </p:txBody>
      </p:sp>
      <p:sp>
        <p:nvSpPr>
          <p:cNvPr id="69" name="Retângulo de cantos arredondados 68"/>
          <p:cNvSpPr/>
          <p:nvPr/>
        </p:nvSpPr>
        <p:spPr>
          <a:xfrm>
            <a:off x="1555996" y="6986674"/>
            <a:ext cx="7747462" cy="3805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altLang="pt-BR" sz="2800" dirty="0"/>
              <a:t>Ao enviar a macro de Parada, aguarde a liberação para abertura das portas (motorista e carona)</a:t>
            </a:r>
            <a:endParaRPr lang="pt-BR" altLang="pt-BR" sz="2800" dirty="0">
              <a:latin typeface="Maven Pro" pitchFamily="50" charset="0"/>
            </a:endParaRPr>
          </a:p>
        </p:txBody>
      </p:sp>
      <p:sp>
        <p:nvSpPr>
          <p:cNvPr id="67" name="Retângulo de cantos arredondados 66"/>
          <p:cNvSpPr/>
          <p:nvPr/>
        </p:nvSpPr>
        <p:spPr>
          <a:xfrm>
            <a:off x="10788224" y="2695416"/>
            <a:ext cx="7823625" cy="3805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altLang="pt-BR" sz="2800" dirty="0">
                <a:latin typeface="Maven Pro" pitchFamily="50" charset="0"/>
              </a:rPr>
              <a:t>Paradas com bloqueio:</a:t>
            </a:r>
          </a:p>
          <a:p>
            <a:pPr algn="just"/>
            <a:endParaRPr lang="pt-BR" altLang="pt-BR" sz="2800" dirty="0">
              <a:latin typeface="Maven Pro" pitchFamily="50" charset="0"/>
            </a:endParaRPr>
          </a:p>
          <a:p>
            <a:pPr>
              <a:spcBef>
                <a:spcPct val="0"/>
              </a:spcBef>
            </a:pPr>
            <a:r>
              <a:rPr lang="pt-BR" altLang="pt-BR" sz="2800" dirty="0">
                <a:latin typeface="Maven Pro" pitchFamily="50" charset="0"/>
              </a:rPr>
              <a:t>Refeição</a:t>
            </a:r>
          </a:p>
          <a:p>
            <a:pPr>
              <a:spcBef>
                <a:spcPct val="0"/>
              </a:spcBef>
            </a:pPr>
            <a:r>
              <a:rPr lang="pt-BR" altLang="pt-BR" sz="2800" dirty="0">
                <a:latin typeface="Maven Pro" pitchFamily="50" charset="0"/>
              </a:rPr>
              <a:t>Banheiro</a:t>
            </a:r>
          </a:p>
          <a:p>
            <a:pPr>
              <a:spcBef>
                <a:spcPct val="0"/>
              </a:spcBef>
            </a:pPr>
            <a:r>
              <a:rPr lang="pt-BR" altLang="pt-BR" sz="2800" dirty="0">
                <a:latin typeface="Maven Pro" pitchFamily="50" charset="0"/>
              </a:rPr>
              <a:t>Pernoite</a:t>
            </a:r>
          </a:p>
        </p:txBody>
      </p:sp>
      <p:sp>
        <p:nvSpPr>
          <p:cNvPr id="39" name="Retângulo de cantos arredondados 38"/>
          <p:cNvSpPr/>
          <p:nvPr/>
        </p:nvSpPr>
        <p:spPr>
          <a:xfrm>
            <a:off x="-8063594" y="2514600"/>
            <a:ext cx="7821758" cy="39858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0"/>
              </a:spcBef>
            </a:pPr>
            <a:r>
              <a:rPr lang="pt-BR" altLang="pt-BR" sz="2800" dirty="0">
                <a:latin typeface="Maven Pro" pitchFamily="50" charset="0"/>
              </a:rPr>
              <a:t>Paradas sem bloqueio:</a:t>
            </a:r>
          </a:p>
          <a:p>
            <a:pPr>
              <a:spcBef>
                <a:spcPct val="0"/>
              </a:spcBef>
            </a:pPr>
            <a:endParaRPr lang="pt-BR" altLang="pt-BR" sz="2800" dirty="0">
              <a:latin typeface="Maven Pro" pitchFamily="50" charset="0"/>
            </a:endParaRPr>
          </a:p>
          <a:p>
            <a:pPr>
              <a:spcBef>
                <a:spcPct val="0"/>
              </a:spcBef>
            </a:pPr>
            <a:r>
              <a:rPr lang="pt-BR" altLang="pt-BR" sz="2800" dirty="0">
                <a:latin typeface="Maven Pro" pitchFamily="50" charset="0"/>
              </a:rPr>
              <a:t>Abastecimento</a:t>
            </a:r>
          </a:p>
          <a:p>
            <a:pPr>
              <a:spcBef>
                <a:spcPct val="0"/>
              </a:spcBef>
            </a:pPr>
            <a:r>
              <a:rPr lang="pt-BR" altLang="pt-BR" sz="2800" dirty="0">
                <a:latin typeface="Maven Pro" pitchFamily="50" charset="0"/>
              </a:rPr>
              <a:t>Posto Fiscal / PRF</a:t>
            </a:r>
          </a:p>
          <a:p>
            <a:pPr>
              <a:spcBef>
                <a:spcPct val="0"/>
              </a:spcBef>
            </a:pPr>
            <a:r>
              <a:rPr lang="pt-BR" altLang="pt-BR" sz="2800" dirty="0">
                <a:latin typeface="Maven Pro" pitchFamily="50" charset="0"/>
              </a:rPr>
              <a:t>Cliente</a:t>
            </a:r>
          </a:p>
          <a:p>
            <a:pPr>
              <a:spcBef>
                <a:spcPct val="0"/>
              </a:spcBef>
            </a:pPr>
            <a:r>
              <a:rPr lang="pt-BR" altLang="pt-BR" sz="2800" dirty="0">
                <a:latin typeface="Maven Pro" pitchFamily="50" charset="0"/>
              </a:rPr>
              <a:t>Trechos com obras na pista ou congestionamento</a:t>
            </a:r>
          </a:p>
          <a:p>
            <a:pPr>
              <a:spcBef>
                <a:spcPct val="0"/>
              </a:spcBef>
            </a:pPr>
            <a:r>
              <a:rPr lang="pt-BR" altLang="pt-BR" sz="2800" dirty="0">
                <a:latin typeface="Maven Pro" pitchFamily="50" charset="0"/>
              </a:rPr>
              <a:t>Acidente </a:t>
            </a:r>
          </a:p>
        </p:txBody>
      </p:sp>
      <p:pic>
        <p:nvPicPr>
          <p:cNvPr id="70" name="Picture 13" descr="5">
            <a:extLst>
              <a:ext uri="{FF2B5EF4-FFF2-40B4-BE49-F238E27FC236}">
                <a16:creationId xmlns:a16="http://schemas.microsoft.com/office/drawing/2014/main" xmlns="" id="{E0688D44-94AD-4846-BD80-E7900CA0A8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13" descr="5">
            <a:extLst>
              <a:ext uri="{FF2B5EF4-FFF2-40B4-BE49-F238E27FC236}">
                <a16:creationId xmlns:a16="http://schemas.microsoft.com/office/drawing/2014/main" xmlns="" id="{F8243AEB-5BB1-4B47-9A02-CDCD46499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61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62332E-7 -4.81481E-6 L -0.00254 -0.6370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" y="-31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441E-6 -3.7037E-7 L -0.87429 -0.01134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22" y="-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133E-6 4.07407E-6 L 0.90104 0.0108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2" y="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6" grpId="0"/>
      <p:bldP spid="68" grpId="0"/>
      <p:bldP spid="69" grpId="0" animBg="1"/>
      <p:bldP spid="67" grpId="0" animBg="1"/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7516984" y="5255097"/>
            <a:ext cx="13300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Início de Viagem</a:t>
            </a:r>
            <a:endParaRPr lang="pt-BR" dirty="0"/>
          </a:p>
        </p:txBody>
      </p:sp>
      <p:sp>
        <p:nvSpPr>
          <p:cNvPr id="66" name="Retângulo 6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Tempos de Paradas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850006" y="1328584"/>
            <a:ext cx="8937938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Abastecimento: 1 hora e 30 minutos sem bloqueio</a:t>
            </a:r>
          </a:p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Posto fiscal / PRF: 2 horas sem bloqueio</a:t>
            </a:r>
          </a:p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Cliente: 2 horas sem bloqueio</a:t>
            </a:r>
          </a:p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Matriz/Filial: 12 horas sem bloqueio</a:t>
            </a:r>
          </a:p>
          <a:p>
            <a:pPr algn="just"/>
            <a:endParaRPr lang="pt-BR" altLang="pt-BR" sz="2400" dirty="0">
              <a:solidFill>
                <a:srgbClr val="002060"/>
              </a:solidFill>
            </a:endParaRPr>
          </a:p>
          <a:p>
            <a:pPr algn="just"/>
            <a:endParaRPr lang="pt-BR" altLang="pt-BR" sz="2400" dirty="0">
              <a:solidFill>
                <a:srgbClr val="002060"/>
              </a:solidFill>
            </a:endParaRPr>
          </a:p>
          <a:p>
            <a:pPr algn="just"/>
            <a:endParaRPr lang="pt-BR" altLang="pt-BR" sz="2400" dirty="0">
              <a:solidFill>
                <a:srgbClr val="002060"/>
              </a:solidFill>
            </a:endParaRPr>
          </a:p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Refeição: 1 hora com bloqueio</a:t>
            </a:r>
          </a:p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Banheiro: 1 hora com bloqueio</a:t>
            </a:r>
          </a:p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Pernoite: “Fixo” das 22:00 ás 05:00 com Bloqueio</a:t>
            </a:r>
          </a:p>
          <a:p>
            <a:pPr algn="just"/>
            <a:endParaRPr lang="pt-BR" altLang="pt-BR" sz="2400" dirty="0">
              <a:solidFill>
                <a:srgbClr val="002060"/>
              </a:solidFill>
            </a:endParaRPr>
          </a:p>
          <a:p>
            <a:pPr algn="ctr"/>
            <a:r>
              <a:rPr lang="pt-BR" altLang="pt-BR" sz="3200" b="1" dirty="0">
                <a:solidFill>
                  <a:srgbClr val="002060"/>
                </a:solidFill>
              </a:rPr>
              <a:t>Residência: Não permite</a:t>
            </a:r>
          </a:p>
        </p:txBody>
      </p:sp>
      <p:pic>
        <p:nvPicPr>
          <p:cNvPr id="6" name="Picture 13" descr="5">
            <a:extLst>
              <a:ext uri="{FF2B5EF4-FFF2-40B4-BE49-F238E27FC236}">
                <a16:creationId xmlns:a16="http://schemas.microsoft.com/office/drawing/2014/main" xmlns="" id="{B28300AD-90D6-45F9-8467-B0A97F6A8B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3" descr="5">
            <a:extLst>
              <a:ext uri="{FF2B5EF4-FFF2-40B4-BE49-F238E27FC236}">
                <a16:creationId xmlns:a16="http://schemas.microsoft.com/office/drawing/2014/main" xmlns="" id="{534445F2-0CDF-436F-89A3-25D5EC987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5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grpSp>
        <p:nvGrpSpPr>
          <p:cNvPr id="37" name="Grupo 36"/>
          <p:cNvGrpSpPr/>
          <p:nvPr/>
        </p:nvGrpSpPr>
        <p:grpSpPr>
          <a:xfrm>
            <a:off x="1878460" y="2672503"/>
            <a:ext cx="6881029" cy="3680001"/>
            <a:chOff x="1009064" y="1161754"/>
            <a:chExt cx="8500057" cy="5397833"/>
          </a:xfrm>
        </p:grpSpPr>
        <p:grpSp>
          <p:nvGrpSpPr>
            <p:cNvPr id="38" name="Grupo 37"/>
            <p:cNvGrpSpPr/>
            <p:nvPr/>
          </p:nvGrpSpPr>
          <p:grpSpPr>
            <a:xfrm>
              <a:off x="8525476" y="1161754"/>
              <a:ext cx="983645" cy="1642766"/>
              <a:chOff x="7957488" y="1548600"/>
              <a:chExt cx="983645" cy="1642766"/>
            </a:xfrm>
          </p:grpSpPr>
          <p:pic>
            <p:nvPicPr>
              <p:cNvPr id="64" name="Imagem 6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7488" y="1943591"/>
                <a:ext cx="981075" cy="1247775"/>
              </a:xfrm>
              <a:prstGeom prst="rect">
                <a:avLst/>
              </a:prstGeom>
            </p:spPr>
          </p:pic>
          <p:sp>
            <p:nvSpPr>
              <p:cNvPr id="65" name="Retângulo 64"/>
              <p:cNvSpPr/>
              <p:nvPr/>
            </p:nvSpPr>
            <p:spPr>
              <a:xfrm>
                <a:off x="7983145" y="1548600"/>
                <a:ext cx="957988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GPS</a:t>
                </a:r>
              </a:p>
            </p:txBody>
          </p:sp>
        </p:grpSp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9413" y="5539203"/>
              <a:ext cx="822945" cy="900000"/>
            </a:xfrm>
            <a:prstGeom prst="rect">
              <a:avLst/>
            </a:prstGeom>
          </p:spPr>
        </p:pic>
        <p:grpSp>
          <p:nvGrpSpPr>
            <p:cNvPr id="41" name="Grupo 40"/>
            <p:cNvGrpSpPr/>
            <p:nvPr/>
          </p:nvGrpSpPr>
          <p:grpSpPr>
            <a:xfrm>
              <a:off x="1009064" y="1203823"/>
              <a:ext cx="1156215" cy="1576090"/>
              <a:chOff x="1723421" y="1548600"/>
              <a:chExt cx="1156215" cy="1576090"/>
            </a:xfrm>
          </p:grpSpPr>
          <p:pic>
            <p:nvPicPr>
              <p:cNvPr id="62" name="Imagem 6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9079" y="2010265"/>
                <a:ext cx="1104900" cy="1114425"/>
              </a:xfrm>
              <a:prstGeom prst="rect">
                <a:avLst/>
              </a:prstGeom>
              <a:noFill/>
            </p:spPr>
          </p:pic>
          <p:sp>
            <p:nvSpPr>
              <p:cNvPr id="63" name="Retângulo 62"/>
              <p:cNvSpPr/>
              <p:nvPr/>
            </p:nvSpPr>
            <p:spPr>
              <a:xfrm>
                <a:off x="1723421" y="1548600"/>
                <a:ext cx="1156215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Satélite</a:t>
                </a: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3026177" y="4163746"/>
              <a:ext cx="1611029" cy="2395841"/>
              <a:chOff x="1600821" y="4080141"/>
              <a:chExt cx="1611029" cy="2395841"/>
            </a:xfrm>
          </p:grpSpPr>
          <p:pic>
            <p:nvPicPr>
              <p:cNvPr id="60" name="Imagem 5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01499" y="4080141"/>
                <a:ext cx="1209675" cy="1447800"/>
              </a:xfrm>
              <a:prstGeom prst="rect">
                <a:avLst/>
              </a:prstGeom>
            </p:spPr>
          </p:pic>
          <p:sp>
            <p:nvSpPr>
              <p:cNvPr id="61" name="Retângulo 60"/>
              <p:cNvSpPr/>
              <p:nvPr/>
            </p:nvSpPr>
            <p:spPr>
              <a:xfrm>
                <a:off x="1600821" y="5527942"/>
                <a:ext cx="1611029" cy="948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Empresa de Tecnologia</a:t>
                </a:r>
              </a:p>
            </p:txBody>
          </p:sp>
        </p:grpSp>
        <p:grpSp>
          <p:nvGrpSpPr>
            <p:cNvPr id="43" name="Grupo 42"/>
            <p:cNvGrpSpPr/>
            <p:nvPr/>
          </p:nvGrpSpPr>
          <p:grpSpPr>
            <a:xfrm>
              <a:off x="8101207" y="3871222"/>
              <a:ext cx="1358824" cy="1425215"/>
              <a:chOff x="7579739" y="4642562"/>
              <a:chExt cx="1358824" cy="1425215"/>
            </a:xfrm>
          </p:grpSpPr>
          <p:pic>
            <p:nvPicPr>
              <p:cNvPr id="58" name="Imagem 57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79739" y="4642562"/>
                <a:ext cx="1358824" cy="900000"/>
              </a:xfrm>
              <a:prstGeom prst="rect">
                <a:avLst/>
              </a:prstGeom>
            </p:spPr>
          </p:pic>
          <p:sp>
            <p:nvSpPr>
              <p:cNvPr id="59" name="Retângulo 58"/>
              <p:cNvSpPr/>
              <p:nvPr/>
            </p:nvSpPr>
            <p:spPr>
              <a:xfrm>
                <a:off x="7681043" y="5526040"/>
                <a:ext cx="1156216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Veículo</a:t>
                </a:r>
              </a:p>
            </p:txBody>
          </p:sp>
        </p:grpSp>
        <p:cxnSp>
          <p:nvCxnSpPr>
            <p:cNvPr id="44" name="Conector de seta reta 43"/>
            <p:cNvCxnSpPr/>
            <p:nvPr/>
          </p:nvCxnSpPr>
          <p:spPr>
            <a:xfrm>
              <a:off x="8917098" y="2920619"/>
              <a:ext cx="7961" cy="3377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/>
            <p:cNvCxnSpPr/>
            <p:nvPr/>
          </p:nvCxnSpPr>
          <p:spPr>
            <a:xfrm>
              <a:off x="2232565" y="1491728"/>
              <a:ext cx="405651" cy="1567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/>
            <p:nvPr/>
          </p:nvCxnSpPr>
          <p:spPr>
            <a:xfrm flipH="1" flipV="1">
              <a:off x="7255611" y="4294280"/>
              <a:ext cx="402513" cy="1559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/>
            <p:cNvCxnSpPr/>
            <p:nvPr/>
          </p:nvCxnSpPr>
          <p:spPr>
            <a:xfrm>
              <a:off x="2047741" y="2804520"/>
              <a:ext cx="360608" cy="224301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/>
            <p:nvPr/>
          </p:nvCxnSpPr>
          <p:spPr>
            <a:xfrm flipH="1" flipV="1">
              <a:off x="2820477" y="3968807"/>
              <a:ext cx="321796" cy="19493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/>
            <p:cNvCxnSpPr/>
            <p:nvPr/>
          </p:nvCxnSpPr>
          <p:spPr>
            <a:xfrm flipV="1">
              <a:off x="4619553" y="5718644"/>
              <a:ext cx="326475" cy="105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/>
            <p:nvPr/>
          </p:nvCxnSpPr>
          <p:spPr>
            <a:xfrm flipH="1" flipV="1">
              <a:off x="5330248" y="5978159"/>
              <a:ext cx="299094" cy="100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 flipH="1">
              <a:off x="4619554" y="5989203"/>
              <a:ext cx="936074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to 51"/>
            <p:cNvCxnSpPr/>
            <p:nvPr/>
          </p:nvCxnSpPr>
          <p:spPr>
            <a:xfrm flipH="1" flipV="1">
              <a:off x="1609859" y="3096329"/>
              <a:ext cx="1567528" cy="1115373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to 52"/>
            <p:cNvCxnSpPr/>
            <p:nvPr/>
          </p:nvCxnSpPr>
          <p:spPr>
            <a:xfrm>
              <a:off x="2258323" y="1493939"/>
              <a:ext cx="5198545" cy="2222735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to 53"/>
            <p:cNvCxnSpPr/>
            <p:nvPr/>
          </p:nvCxnSpPr>
          <p:spPr>
            <a:xfrm>
              <a:off x="8925057" y="2920619"/>
              <a:ext cx="0" cy="796055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/>
            <p:cNvCxnSpPr/>
            <p:nvPr/>
          </p:nvCxnSpPr>
          <p:spPr>
            <a:xfrm flipH="1" flipV="1">
              <a:off x="2501393" y="2214810"/>
              <a:ext cx="5045627" cy="219306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/>
            <p:nvPr/>
          </p:nvCxnSpPr>
          <p:spPr>
            <a:xfrm>
              <a:off x="2206807" y="2895824"/>
              <a:ext cx="1579581" cy="1091309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/>
            <p:cNvCxnSpPr/>
            <p:nvPr/>
          </p:nvCxnSpPr>
          <p:spPr>
            <a:xfrm>
              <a:off x="4619553" y="5719509"/>
              <a:ext cx="1009789" cy="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tângulo de cantos arredondados 2"/>
          <p:cNvSpPr/>
          <p:nvPr/>
        </p:nvSpPr>
        <p:spPr>
          <a:xfrm>
            <a:off x="7516984" y="5197708"/>
            <a:ext cx="1330037" cy="714894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516984" y="5255097"/>
            <a:ext cx="13300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Reinício de Viagem</a:t>
            </a:r>
            <a:endParaRPr lang="pt-BR" dirty="0"/>
          </a:p>
        </p:txBody>
      </p:sp>
      <p:sp>
        <p:nvSpPr>
          <p:cNvPr id="67" name="Retângulo de cantos arredondados 66"/>
          <p:cNvSpPr/>
          <p:nvPr/>
        </p:nvSpPr>
        <p:spPr>
          <a:xfrm>
            <a:off x="10788225" y="3052980"/>
            <a:ext cx="7747462" cy="3805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altLang="pt-BR" sz="2800" dirty="0"/>
              <a:t>O comando de desbloqueio </a:t>
            </a:r>
            <a:r>
              <a:rPr lang="pt-BR" altLang="pt-B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poderá</a:t>
            </a:r>
            <a:r>
              <a:rPr lang="pt-BR" alt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pt-BR" sz="2800" dirty="0"/>
              <a:t>ser automático, se estiver dentro do prazo de parada.</a:t>
            </a:r>
          </a:p>
        </p:txBody>
      </p:sp>
      <p:sp>
        <p:nvSpPr>
          <p:cNvPr id="66" name="Retângulo 6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Procedimento de Reinício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850006" y="1448899"/>
            <a:ext cx="8937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Para realizar o reinício, deverá enviar a Macro de Reinício, através do teclado de comunicação.</a:t>
            </a:r>
          </a:p>
        </p:txBody>
      </p:sp>
      <p:pic>
        <p:nvPicPr>
          <p:cNvPr id="36" name="Picture 13" descr="5">
            <a:extLst>
              <a:ext uri="{FF2B5EF4-FFF2-40B4-BE49-F238E27FC236}">
                <a16:creationId xmlns:a16="http://schemas.microsoft.com/office/drawing/2014/main" xmlns="" id="{03CC0210-D543-4151-B0D3-B64CC668AA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" descr="5">
            <a:extLst>
              <a:ext uri="{FF2B5EF4-FFF2-40B4-BE49-F238E27FC236}">
                <a16:creationId xmlns:a16="http://schemas.microsoft.com/office/drawing/2014/main" xmlns="" id="{375B3BB9-1631-4531-9EB7-B6A513922A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14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8804E-6 -3.7037E-6 L -0.87429 -0.0113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22" y="-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7" grpId="0" animBg="1"/>
      <p:bldP spid="66" grpId="0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grpSp>
        <p:nvGrpSpPr>
          <p:cNvPr id="37" name="Grupo 36"/>
          <p:cNvGrpSpPr/>
          <p:nvPr/>
        </p:nvGrpSpPr>
        <p:grpSpPr>
          <a:xfrm>
            <a:off x="1878460" y="2672503"/>
            <a:ext cx="6881029" cy="3680001"/>
            <a:chOff x="1009064" y="1161754"/>
            <a:chExt cx="8500057" cy="5397833"/>
          </a:xfrm>
        </p:grpSpPr>
        <p:grpSp>
          <p:nvGrpSpPr>
            <p:cNvPr id="38" name="Grupo 37"/>
            <p:cNvGrpSpPr/>
            <p:nvPr/>
          </p:nvGrpSpPr>
          <p:grpSpPr>
            <a:xfrm>
              <a:off x="8525476" y="1161754"/>
              <a:ext cx="983645" cy="1642766"/>
              <a:chOff x="7957488" y="1548600"/>
              <a:chExt cx="983645" cy="1642766"/>
            </a:xfrm>
          </p:grpSpPr>
          <p:pic>
            <p:nvPicPr>
              <p:cNvPr id="64" name="Imagem 6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7488" y="1943591"/>
                <a:ext cx="981075" cy="1247775"/>
              </a:xfrm>
              <a:prstGeom prst="rect">
                <a:avLst/>
              </a:prstGeom>
            </p:spPr>
          </p:pic>
          <p:sp>
            <p:nvSpPr>
              <p:cNvPr id="65" name="Retângulo 64"/>
              <p:cNvSpPr/>
              <p:nvPr/>
            </p:nvSpPr>
            <p:spPr>
              <a:xfrm>
                <a:off x="7983145" y="1548600"/>
                <a:ext cx="957988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GPS</a:t>
                </a:r>
              </a:p>
            </p:txBody>
          </p:sp>
        </p:grpSp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9413" y="5539203"/>
              <a:ext cx="822945" cy="900000"/>
            </a:xfrm>
            <a:prstGeom prst="rect">
              <a:avLst/>
            </a:prstGeom>
          </p:spPr>
        </p:pic>
        <p:grpSp>
          <p:nvGrpSpPr>
            <p:cNvPr id="41" name="Grupo 40"/>
            <p:cNvGrpSpPr/>
            <p:nvPr/>
          </p:nvGrpSpPr>
          <p:grpSpPr>
            <a:xfrm>
              <a:off x="1009064" y="1203823"/>
              <a:ext cx="1156215" cy="1576090"/>
              <a:chOff x="1723421" y="1548600"/>
              <a:chExt cx="1156215" cy="1576090"/>
            </a:xfrm>
          </p:grpSpPr>
          <p:pic>
            <p:nvPicPr>
              <p:cNvPr id="62" name="Imagem 6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9079" y="2010265"/>
                <a:ext cx="1104900" cy="1114425"/>
              </a:xfrm>
              <a:prstGeom prst="rect">
                <a:avLst/>
              </a:prstGeom>
              <a:noFill/>
            </p:spPr>
          </p:pic>
          <p:sp>
            <p:nvSpPr>
              <p:cNvPr id="63" name="Retângulo 62"/>
              <p:cNvSpPr/>
              <p:nvPr/>
            </p:nvSpPr>
            <p:spPr>
              <a:xfrm>
                <a:off x="1723421" y="1548600"/>
                <a:ext cx="1156215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Satélite</a:t>
                </a: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3026177" y="4163746"/>
              <a:ext cx="1611029" cy="2395841"/>
              <a:chOff x="1600821" y="4080141"/>
              <a:chExt cx="1611029" cy="2395841"/>
            </a:xfrm>
          </p:grpSpPr>
          <p:pic>
            <p:nvPicPr>
              <p:cNvPr id="60" name="Imagem 5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01499" y="4080141"/>
                <a:ext cx="1209675" cy="1447800"/>
              </a:xfrm>
              <a:prstGeom prst="rect">
                <a:avLst/>
              </a:prstGeom>
            </p:spPr>
          </p:pic>
          <p:sp>
            <p:nvSpPr>
              <p:cNvPr id="61" name="Retângulo 60"/>
              <p:cNvSpPr/>
              <p:nvPr/>
            </p:nvSpPr>
            <p:spPr>
              <a:xfrm>
                <a:off x="1600821" y="5527942"/>
                <a:ext cx="1611029" cy="948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Empresa de Tecnologia</a:t>
                </a:r>
              </a:p>
            </p:txBody>
          </p:sp>
        </p:grpSp>
        <p:grpSp>
          <p:nvGrpSpPr>
            <p:cNvPr id="43" name="Grupo 42"/>
            <p:cNvGrpSpPr/>
            <p:nvPr/>
          </p:nvGrpSpPr>
          <p:grpSpPr>
            <a:xfrm>
              <a:off x="8101207" y="3871222"/>
              <a:ext cx="1358824" cy="1425215"/>
              <a:chOff x="7579739" y="4642562"/>
              <a:chExt cx="1358824" cy="1425215"/>
            </a:xfrm>
          </p:grpSpPr>
          <p:pic>
            <p:nvPicPr>
              <p:cNvPr id="58" name="Imagem 57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79739" y="4642562"/>
                <a:ext cx="1358824" cy="900000"/>
              </a:xfrm>
              <a:prstGeom prst="rect">
                <a:avLst/>
              </a:prstGeom>
            </p:spPr>
          </p:pic>
          <p:sp>
            <p:nvSpPr>
              <p:cNvPr id="59" name="Retângulo 58"/>
              <p:cNvSpPr/>
              <p:nvPr/>
            </p:nvSpPr>
            <p:spPr>
              <a:xfrm>
                <a:off x="7681043" y="5526040"/>
                <a:ext cx="1156216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Veículo</a:t>
                </a:r>
              </a:p>
            </p:txBody>
          </p:sp>
        </p:grpSp>
        <p:cxnSp>
          <p:nvCxnSpPr>
            <p:cNvPr id="44" name="Conector de seta reta 43"/>
            <p:cNvCxnSpPr/>
            <p:nvPr/>
          </p:nvCxnSpPr>
          <p:spPr>
            <a:xfrm>
              <a:off x="8917098" y="2920619"/>
              <a:ext cx="7961" cy="3377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/>
            <p:cNvCxnSpPr/>
            <p:nvPr/>
          </p:nvCxnSpPr>
          <p:spPr>
            <a:xfrm>
              <a:off x="2232565" y="1491728"/>
              <a:ext cx="405651" cy="1567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/>
            <p:nvPr/>
          </p:nvCxnSpPr>
          <p:spPr>
            <a:xfrm flipH="1" flipV="1">
              <a:off x="7255611" y="4294280"/>
              <a:ext cx="402513" cy="1559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/>
            <p:cNvCxnSpPr/>
            <p:nvPr/>
          </p:nvCxnSpPr>
          <p:spPr>
            <a:xfrm>
              <a:off x="2047741" y="2804520"/>
              <a:ext cx="360608" cy="224301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/>
            <p:nvPr/>
          </p:nvCxnSpPr>
          <p:spPr>
            <a:xfrm flipH="1" flipV="1">
              <a:off x="2820477" y="3968807"/>
              <a:ext cx="321796" cy="19493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/>
            <p:cNvCxnSpPr/>
            <p:nvPr/>
          </p:nvCxnSpPr>
          <p:spPr>
            <a:xfrm flipV="1">
              <a:off x="4619553" y="5718644"/>
              <a:ext cx="326475" cy="105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/>
            <p:nvPr/>
          </p:nvCxnSpPr>
          <p:spPr>
            <a:xfrm flipH="1" flipV="1">
              <a:off x="5330248" y="5978159"/>
              <a:ext cx="299094" cy="100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 flipH="1">
              <a:off x="4619554" y="5989203"/>
              <a:ext cx="936074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to 51"/>
            <p:cNvCxnSpPr/>
            <p:nvPr/>
          </p:nvCxnSpPr>
          <p:spPr>
            <a:xfrm flipH="1" flipV="1">
              <a:off x="1609859" y="3096329"/>
              <a:ext cx="1567528" cy="1115373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to 52"/>
            <p:cNvCxnSpPr/>
            <p:nvPr/>
          </p:nvCxnSpPr>
          <p:spPr>
            <a:xfrm>
              <a:off x="2258323" y="1493939"/>
              <a:ext cx="5198545" cy="2222735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to 53"/>
            <p:cNvCxnSpPr/>
            <p:nvPr/>
          </p:nvCxnSpPr>
          <p:spPr>
            <a:xfrm>
              <a:off x="8925057" y="2920619"/>
              <a:ext cx="0" cy="796055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/>
            <p:cNvCxnSpPr/>
            <p:nvPr/>
          </p:nvCxnSpPr>
          <p:spPr>
            <a:xfrm flipH="1" flipV="1">
              <a:off x="2501393" y="2214810"/>
              <a:ext cx="5045627" cy="219306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/>
            <p:nvPr/>
          </p:nvCxnSpPr>
          <p:spPr>
            <a:xfrm>
              <a:off x="2206807" y="2895824"/>
              <a:ext cx="1579581" cy="1091309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/>
            <p:cNvCxnSpPr/>
            <p:nvPr/>
          </p:nvCxnSpPr>
          <p:spPr>
            <a:xfrm>
              <a:off x="4619553" y="5719509"/>
              <a:ext cx="1009789" cy="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tângulo de cantos arredondados 2"/>
          <p:cNvSpPr/>
          <p:nvPr/>
        </p:nvSpPr>
        <p:spPr>
          <a:xfrm>
            <a:off x="7516984" y="5197708"/>
            <a:ext cx="1330037" cy="714894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516984" y="5255097"/>
            <a:ext cx="13300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Chegada no Cliente</a:t>
            </a:r>
            <a:endParaRPr lang="pt-BR" dirty="0"/>
          </a:p>
        </p:txBody>
      </p:sp>
      <p:sp>
        <p:nvSpPr>
          <p:cNvPr id="67" name="Retângulo de cantos arredondados 66"/>
          <p:cNvSpPr/>
          <p:nvPr/>
        </p:nvSpPr>
        <p:spPr>
          <a:xfrm>
            <a:off x="10906212" y="2905609"/>
            <a:ext cx="7747462" cy="3805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pt-BR" sz="2800" dirty="0"/>
              <a:t>Ao enviar a macro de Chegada ao Cliente, somente quando estiver dentro da estrutura do cliente informado na </a:t>
            </a:r>
            <a:r>
              <a:rPr lang="pt-BR" altLang="pt-BR" sz="2800" dirty="0" err="1"/>
              <a:t>Danfe</a:t>
            </a:r>
            <a:r>
              <a:rPr lang="pt-BR" altLang="pt-BR" sz="2800" dirty="0"/>
              <a:t>, aguarde a liberação para abertura das portas (motorista e carona).</a:t>
            </a:r>
          </a:p>
        </p:txBody>
      </p:sp>
      <p:sp>
        <p:nvSpPr>
          <p:cNvPr id="66" name="Retângulo 65"/>
          <p:cNvSpPr/>
          <p:nvPr/>
        </p:nvSpPr>
        <p:spPr>
          <a:xfrm>
            <a:off x="922195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Procedimento de Chegada no Cliente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850006" y="1448899"/>
            <a:ext cx="8937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Para realizar a chegada, deverá enviar a Macro de Chegada no Cliente, através do teclado de comunicação.</a:t>
            </a:r>
          </a:p>
        </p:txBody>
      </p:sp>
      <p:pic>
        <p:nvPicPr>
          <p:cNvPr id="36" name="Picture 13" descr="5">
            <a:extLst>
              <a:ext uri="{FF2B5EF4-FFF2-40B4-BE49-F238E27FC236}">
                <a16:creationId xmlns:a16="http://schemas.microsoft.com/office/drawing/2014/main" xmlns="" id="{E11B51C8-4D2A-4096-883D-581013552A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" descr="5">
            <a:extLst>
              <a:ext uri="{FF2B5EF4-FFF2-40B4-BE49-F238E27FC236}">
                <a16:creationId xmlns:a16="http://schemas.microsoft.com/office/drawing/2014/main" xmlns="" id="{696B322D-6170-4860-AC2C-41559559F5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52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02541E-7 4.07407E-6 L -0.87429 -0.0113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22" y="-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7" grpId="0" animBg="1"/>
      <p:bldP spid="66" grpId="0"/>
      <p:bldP spid="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grpSp>
        <p:nvGrpSpPr>
          <p:cNvPr id="37" name="Grupo 36"/>
          <p:cNvGrpSpPr/>
          <p:nvPr/>
        </p:nvGrpSpPr>
        <p:grpSpPr>
          <a:xfrm>
            <a:off x="1878460" y="2672503"/>
            <a:ext cx="6881029" cy="3680001"/>
            <a:chOff x="1009064" y="1161754"/>
            <a:chExt cx="8500057" cy="5397833"/>
          </a:xfrm>
        </p:grpSpPr>
        <p:grpSp>
          <p:nvGrpSpPr>
            <p:cNvPr id="38" name="Grupo 37"/>
            <p:cNvGrpSpPr/>
            <p:nvPr/>
          </p:nvGrpSpPr>
          <p:grpSpPr>
            <a:xfrm>
              <a:off x="8525476" y="1161754"/>
              <a:ext cx="983645" cy="1642766"/>
              <a:chOff x="7957488" y="1548600"/>
              <a:chExt cx="983645" cy="1642766"/>
            </a:xfrm>
          </p:grpSpPr>
          <p:pic>
            <p:nvPicPr>
              <p:cNvPr id="64" name="Imagem 6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7488" y="1943591"/>
                <a:ext cx="981075" cy="1247775"/>
              </a:xfrm>
              <a:prstGeom prst="rect">
                <a:avLst/>
              </a:prstGeom>
            </p:spPr>
          </p:pic>
          <p:sp>
            <p:nvSpPr>
              <p:cNvPr id="65" name="Retângulo 64"/>
              <p:cNvSpPr/>
              <p:nvPr/>
            </p:nvSpPr>
            <p:spPr>
              <a:xfrm>
                <a:off x="7983145" y="1548600"/>
                <a:ext cx="957988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GPS</a:t>
                </a:r>
              </a:p>
            </p:txBody>
          </p:sp>
        </p:grpSp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39413" y="5539203"/>
              <a:ext cx="822945" cy="900000"/>
            </a:xfrm>
            <a:prstGeom prst="rect">
              <a:avLst/>
            </a:prstGeom>
          </p:spPr>
        </p:pic>
        <p:grpSp>
          <p:nvGrpSpPr>
            <p:cNvPr id="41" name="Grupo 40"/>
            <p:cNvGrpSpPr/>
            <p:nvPr/>
          </p:nvGrpSpPr>
          <p:grpSpPr>
            <a:xfrm>
              <a:off x="1009064" y="1203823"/>
              <a:ext cx="1156215" cy="1576090"/>
              <a:chOff x="1723421" y="1548600"/>
              <a:chExt cx="1156215" cy="1576090"/>
            </a:xfrm>
          </p:grpSpPr>
          <p:pic>
            <p:nvPicPr>
              <p:cNvPr id="62" name="Imagem 6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9079" y="2010265"/>
                <a:ext cx="1104900" cy="1114425"/>
              </a:xfrm>
              <a:prstGeom prst="rect">
                <a:avLst/>
              </a:prstGeom>
              <a:noFill/>
            </p:spPr>
          </p:pic>
          <p:sp>
            <p:nvSpPr>
              <p:cNvPr id="63" name="Retângulo 62"/>
              <p:cNvSpPr/>
              <p:nvPr/>
            </p:nvSpPr>
            <p:spPr>
              <a:xfrm>
                <a:off x="1723421" y="1548600"/>
                <a:ext cx="1156215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Satélite</a:t>
                </a:r>
              </a:p>
            </p:txBody>
          </p:sp>
        </p:grpSp>
        <p:grpSp>
          <p:nvGrpSpPr>
            <p:cNvPr id="42" name="Grupo 41"/>
            <p:cNvGrpSpPr/>
            <p:nvPr/>
          </p:nvGrpSpPr>
          <p:grpSpPr>
            <a:xfrm>
              <a:off x="3026177" y="4163746"/>
              <a:ext cx="1611029" cy="2395841"/>
              <a:chOff x="1600821" y="4080141"/>
              <a:chExt cx="1611029" cy="2395841"/>
            </a:xfrm>
          </p:grpSpPr>
          <p:pic>
            <p:nvPicPr>
              <p:cNvPr id="60" name="Imagem 5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1499" y="4080141"/>
                <a:ext cx="1209675" cy="1447800"/>
              </a:xfrm>
              <a:prstGeom prst="rect">
                <a:avLst/>
              </a:prstGeom>
            </p:spPr>
          </p:pic>
          <p:sp>
            <p:nvSpPr>
              <p:cNvPr id="61" name="Retângulo 60"/>
              <p:cNvSpPr/>
              <p:nvPr/>
            </p:nvSpPr>
            <p:spPr>
              <a:xfrm>
                <a:off x="1600821" y="5527942"/>
                <a:ext cx="1611029" cy="948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Empresa de Tecnologia</a:t>
                </a:r>
              </a:p>
            </p:txBody>
          </p:sp>
        </p:grpSp>
        <p:grpSp>
          <p:nvGrpSpPr>
            <p:cNvPr id="43" name="Grupo 42"/>
            <p:cNvGrpSpPr/>
            <p:nvPr/>
          </p:nvGrpSpPr>
          <p:grpSpPr>
            <a:xfrm>
              <a:off x="8101207" y="3871222"/>
              <a:ext cx="1358824" cy="1425215"/>
              <a:chOff x="7579739" y="4642562"/>
              <a:chExt cx="1358824" cy="1425215"/>
            </a:xfrm>
          </p:grpSpPr>
          <p:pic>
            <p:nvPicPr>
              <p:cNvPr id="58" name="Imagem 5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79739" y="4642562"/>
                <a:ext cx="1358824" cy="900000"/>
              </a:xfrm>
              <a:prstGeom prst="rect">
                <a:avLst/>
              </a:prstGeom>
            </p:spPr>
          </p:pic>
          <p:sp>
            <p:nvSpPr>
              <p:cNvPr id="59" name="Retângulo 58"/>
              <p:cNvSpPr/>
              <p:nvPr/>
            </p:nvSpPr>
            <p:spPr>
              <a:xfrm>
                <a:off x="7681043" y="5526040"/>
                <a:ext cx="1156216" cy="5417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pt-BR" dirty="0">
                    <a:solidFill>
                      <a:srgbClr val="002060"/>
                    </a:solidFill>
                    <a:ea typeface="Arial Unicode MS" pitchFamily="2"/>
                    <a:cs typeface="Arial" panose="020B0604020202020204" pitchFamily="34" charset="0"/>
                  </a:rPr>
                  <a:t>Veículo</a:t>
                </a:r>
              </a:p>
            </p:txBody>
          </p:sp>
        </p:grpSp>
        <p:cxnSp>
          <p:nvCxnSpPr>
            <p:cNvPr id="44" name="Conector de seta reta 43"/>
            <p:cNvCxnSpPr/>
            <p:nvPr/>
          </p:nvCxnSpPr>
          <p:spPr>
            <a:xfrm>
              <a:off x="8917098" y="2920619"/>
              <a:ext cx="7961" cy="3377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/>
            <p:cNvCxnSpPr/>
            <p:nvPr/>
          </p:nvCxnSpPr>
          <p:spPr>
            <a:xfrm>
              <a:off x="2232565" y="1491728"/>
              <a:ext cx="405651" cy="15675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/>
            <p:nvPr/>
          </p:nvCxnSpPr>
          <p:spPr>
            <a:xfrm flipH="1" flipV="1">
              <a:off x="7255611" y="4294280"/>
              <a:ext cx="402513" cy="15593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/>
            <p:cNvCxnSpPr/>
            <p:nvPr/>
          </p:nvCxnSpPr>
          <p:spPr>
            <a:xfrm>
              <a:off x="2047741" y="2804520"/>
              <a:ext cx="360608" cy="224301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/>
            <p:nvPr/>
          </p:nvCxnSpPr>
          <p:spPr>
            <a:xfrm flipH="1" flipV="1">
              <a:off x="2820477" y="3968807"/>
              <a:ext cx="321796" cy="194939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/>
            <p:cNvCxnSpPr/>
            <p:nvPr/>
          </p:nvCxnSpPr>
          <p:spPr>
            <a:xfrm flipV="1">
              <a:off x="4619553" y="5718644"/>
              <a:ext cx="326475" cy="1056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/>
            <p:cNvCxnSpPr/>
            <p:nvPr/>
          </p:nvCxnSpPr>
          <p:spPr>
            <a:xfrm flipH="1" flipV="1">
              <a:off x="5330248" y="5978159"/>
              <a:ext cx="299094" cy="100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 flipH="1">
              <a:off x="4619554" y="5989203"/>
              <a:ext cx="936074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to 51"/>
            <p:cNvCxnSpPr/>
            <p:nvPr/>
          </p:nvCxnSpPr>
          <p:spPr>
            <a:xfrm flipH="1" flipV="1">
              <a:off x="1609859" y="3096329"/>
              <a:ext cx="1567528" cy="1115373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to 52"/>
            <p:cNvCxnSpPr/>
            <p:nvPr/>
          </p:nvCxnSpPr>
          <p:spPr>
            <a:xfrm>
              <a:off x="2258323" y="1493939"/>
              <a:ext cx="5198545" cy="2222735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to 53"/>
            <p:cNvCxnSpPr/>
            <p:nvPr/>
          </p:nvCxnSpPr>
          <p:spPr>
            <a:xfrm>
              <a:off x="8925057" y="2920619"/>
              <a:ext cx="0" cy="796055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/>
            <p:cNvCxnSpPr/>
            <p:nvPr/>
          </p:nvCxnSpPr>
          <p:spPr>
            <a:xfrm flipH="1" flipV="1">
              <a:off x="2501393" y="2214810"/>
              <a:ext cx="5045627" cy="219306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/>
            <p:nvPr/>
          </p:nvCxnSpPr>
          <p:spPr>
            <a:xfrm>
              <a:off x="2206807" y="2895824"/>
              <a:ext cx="1579581" cy="1091309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/>
            <p:cNvCxnSpPr/>
            <p:nvPr/>
          </p:nvCxnSpPr>
          <p:spPr>
            <a:xfrm>
              <a:off x="4619553" y="5719509"/>
              <a:ext cx="1009789" cy="0"/>
            </a:xfrm>
            <a:prstGeom prst="line">
              <a:avLst/>
            </a:prstGeom>
            <a:ln w="12700">
              <a:solidFill>
                <a:srgbClr val="00206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tângulo de cantos arredondados 2"/>
          <p:cNvSpPr/>
          <p:nvPr/>
        </p:nvSpPr>
        <p:spPr>
          <a:xfrm>
            <a:off x="7516984" y="5197708"/>
            <a:ext cx="1330037" cy="714894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516984" y="5255097"/>
            <a:ext cx="13300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Fim de Viagem</a:t>
            </a:r>
            <a:endParaRPr lang="pt-BR" dirty="0"/>
          </a:p>
        </p:txBody>
      </p:sp>
      <p:sp>
        <p:nvSpPr>
          <p:cNvPr id="67" name="Retângulo de cantos arredondados 66"/>
          <p:cNvSpPr/>
          <p:nvPr/>
        </p:nvSpPr>
        <p:spPr>
          <a:xfrm>
            <a:off x="10773476" y="3070516"/>
            <a:ext cx="7747462" cy="380502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altLang="pt-BR" sz="2800" dirty="0">
                <a:latin typeface="Maven Pro" pitchFamily="50" charset="0"/>
              </a:rPr>
              <a:t>A central realizará a conferência do local indicado como destino final e após a confirmação, todos os sensores e atuadores serão liberados e a viagem de monitoramento finalizada.</a:t>
            </a:r>
          </a:p>
        </p:txBody>
      </p:sp>
      <p:sp>
        <p:nvSpPr>
          <p:cNvPr id="66" name="Retângulo 6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Procedimento de Fim de Viagem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850006" y="1448899"/>
            <a:ext cx="8937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Após o descarregamento completo do veículo, deverá enviar a Macro de Fim de Viagem, através do teclado de comunicação.</a:t>
            </a:r>
          </a:p>
        </p:txBody>
      </p:sp>
      <p:pic>
        <p:nvPicPr>
          <p:cNvPr id="36" name="Picture 13" descr="5">
            <a:extLst>
              <a:ext uri="{FF2B5EF4-FFF2-40B4-BE49-F238E27FC236}">
                <a16:creationId xmlns:a16="http://schemas.microsoft.com/office/drawing/2014/main" xmlns="" id="{D5F66824-6F96-427D-9A4B-7A36613914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" descr="5">
            <a:extLst>
              <a:ext uri="{FF2B5EF4-FFF2-40B4-BE49-F238E27FC236}">
                <a16:creationId xmlns:a16="http://schemas.microsoft.com/office/drawing/2014/main" xmlns="" id="{0C6B2BBE-18CC-404E-84C8-28E3B31FE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50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24365E-6 1.11022E-16 L -0.87429 -0.0113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22" y="-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7" grpId="0" animBg="1"/>
      <p:bldP spid="66" grpId="0"/>
      <p:bldP spid="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sp>
        <p:nvSpPr>
          <p:cNvPr id="66" name="Retângulo 6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Botão de Pânico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850006" y="1448899"/>
            <a:ext cx="89379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O Botão de Pânico, é um mecanismo silencioso, ou seja, você pode ficar tranquilo, que não aparecerá no teclado o seu acionamento.</a:t>
            </a:r>
          </a:p>
          <a:p>
            <a:pPr algn="just"/>
            <a:endParaRPr lang="pt-BR" altLang="pt-BR" sz="2400" dirty="0">
              <a:solidFill>
                <a:srgbClr val="002060"/>
              </a:solidFill>
            </a:endParaRPr>
          </a:p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O acionamento do botão de pânico, avisará silenciosamente a Central de monitoramento, que passará a acompanhar toda a ocorrência e tomará ações para a sua proteção.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3495758" y="4351418"/>
            <a:ext cx="3749675" cy="1704975"/>
            <a:chOff x="3495758" y="4062662"/>
            <a:chExt cx="3749675" cy="1704975"/>
          </a:xfrm>
        </p:grpSpPr>
        <p:sp>
          <p:nvSpPr>
            <p:cNvPr id="9" name="Oval 9"/>
            <p:cNvSpPr/>
            <p:nvPr/>
          </p:nvSpPr>
          <p:spPr>
            <a:xfrm>
              <a:off x="3495758" y="4110287"/>
              <a:ext cx="3749675" cy="165735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0" name="Oval 10"/>
            <p:cNvSpPr/>
            <p:nvPr/>
          </p:nvSpPr>
          <p:spPr>
            <a:xfrm>
              <a:off x="3722770" y="4062662"/>
              <a:ext cx="3276600" cy="1447800"/>
            </a:xfrm>
            <a:prstGeom prst="ellipse">
              <a:avLst/>
            </a:prstGeom>
            <a:solidFill>
              <a:srgbClr val="1F4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sp>
        <p:nvSpPr>
          <p:cNvPr id="12" name="Oval 1"/>
          <p:cNvSpPr/>
          <p:nvPr/>
        </p:nvSpPr>
        <p:spPr>
          <a:xfrm>
            <a:off x="3732295" y="4126176"/>
            <a:ext cx="3276600" cy="14478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002060"/>
              </a:solidFill>
            </a:endParaRPr>
          </a:p>
        </p:txBody>
      </p:sp>
      <p:pic>
        <p:nvPicPr>
          <p:cNvPr id="11" name="Picture 13" descr="5">
            <a:extLst>
              <a:ext uri="{FF2B5EF4-FFF2-40B4-BE49-F238E27FC236}">
                <a16:creationId xmlns:a16="http://schemas.microsoft.com/office/drawing/2014/main" xmlns="" id="{EE26E3A3-6FA0-4B8E-99CD-C56E6746A2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3" descr="5">
            <a:extLst>
              <a:ext uri="{FF2B5EF4-FFF2-40B4-BE49-F238E27FC236}">
                <a16:creationId xmlns:a16="http://schemas.microsoft.com/office/drawing/2014/main" xmlns="" id="{0AC429E5-19D8-4BA4-AC51-BD74FF25CC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66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16" grpId="0"/>
      <p:bldP spid="12" grpId="0" animBg="1"/>
      <p:bldP spid="1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7516984" y="5255097"/>
            <a:ext cx="13300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Início de Viagem</a:t>
            </a:r>
            <a:endParaRPr lang="pt-BR" dirty="0"/>
          </a:p>
        </p:txBody>
      </p:sp>
      <p:sp>
        <p:nvSpPr>
          <p:cNvPr id="66" name="Retângulo 6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Critérios de </a:t>
            </a:r>
            <a:r>
              <a:rPr lang="pt-BR" sz="3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avaliação dos profissionais</a:t>
            </a:r>
            <a:endParaRPr lang="pt-BR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3" descr="5">
            <a:extLst>
              <a:ext uri="{FF2B5EF4-FFF2-40B4-BE49-F238E27FC236}">
                <a16:creationId xmlns:a16="http://schemas.microsoft.com/office/drawing/2014/main" xmlns="" id="{D50446C0-9A7A-4EED-A425-5A4474872A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3" descr="5">
            <a:extLst>
              <a:ext uri="{FF2B5EF4-FFF2-40B4-BE49-F238E27FC236}">
                <a16:creationId xmlns:a16="http://schemas.microsoft.com/office/drawing/2014/main" xmlns="" id="{B3037AF5-2ECC-4831-809C-AD3664B694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1168927361"/>
              </p:ext>
            </p:extLst>
          </p:nvPr>
        </p:nvGraphicFramePr>
        <p:xfrm>
          <a:off x="1760440" y="1181261"/>
          <a:ext cx="7080250" cy="4720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6546772" y="1320262"/>
            <a:ext cx="3994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i="1" dirty="0" smtClean="0"/>
              <a:t>Analise quinzenal de indicadores de registros velocidades acima dos 80km/h.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i="1" dirty="0" smtClean="0"/>
              <a:t>Situações de reincidência serão aplicadas advertências cabíveis, e escalonáveis. 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822581" y="5819278"/>
            <a:ext cx="47188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i="1" dirty="0" smtClean="0"/>
              <a:t>Analise dos eventos, caso a caso.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i="1" dirty="0" smtClean="0"/>
              <a:t>Em caso de reincidência serão aplicados os treinamentos e se necessário aplicação de advertências cabíveis. 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-19244" y="3204598"/>
            <a:ext cx="39439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i="1" dirty="0" smtClean="0"/>
              <a:t>Manutenção constante dos procedimentos de GR, envio de macros entre outros.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i="1" dirty="0" smtClean="0"/>
              <a:t>Analise de profissionais menos aderentes, também sujeito as advertências quando necessário. </a:t>
            </a:r>
          </a:p>
        </p:txBody>
      </p:sp>
    </p:spTree>
    <p:extLst>
      <p:ext uri="{BB962C8B-B14F-4D97-AF65-F5344CB8AC3E}">
        <p14:creationId xmlns:p14="http://schemas.microsoft.com/office/powerpoint/2010/main" val="307353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Graphic spid="6" grpId="0">
        <p:bldAsOne/>
      </p:bldGraphic>
      <p:bldP spid="7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" y="65597"/>
            <a:ext cx="1200150" cy="1206466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7516984" y="5255097"/>
            <a:ext cx="13300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Maven Pro" pitchFamily="50" charset="0"/>
              </a:rPr>
              <a:t>Início de Viagem</a:t>
            </a:r>
            <a:endParaRPr lang="pt-BR" dirty="0"/>
          </a:p>
        </p:txBody>
      </p:sp>
      <p:sp>
        <p:nvSpPr>
          <p:cNvPr id="66" name="Retângulo 65"/>
          <p:cNvSpPr/>
          <p:nvPr/>
        </p:nvSpPr>
        <p:spPr>
          <a:xfrm>
            <a:off x="850006" y="242433"/>
            <a:ext cx="8937938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96810">
              <a:lnSpc>
                <a:spcPct val="107000"/>
              </a:lnSpc>
              <a:spcAft>
                <a:spcPts val="1214"/>
              </a:spcAft>
            </a:pPr>
            <a:r>
              <a:rPr lang="pt-B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  <a:cs typeface="Arial" panose="020B0604020202020204" pitchFamily="34" charset="0"/>
              </a:rPr>
              <a:t>Orientações de Segurança</a:t>
            </a:r>
          </a:p>
        </p:txBody>
      </p:sp>
      <p:sp>
        <p:nvSpPr>
          <p:cNvPr id="68" name="Retângulo 67"/>
          <p:cNvSpPr/>
          <p:nvPr/>
        </p:nvSpPr>
        <p:spPr>
          <a:xfrm>
            <a:off x="850006" y="1448899"/>
            <a:ext cx="89379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A prevenção representa </a:t>
            </a:r>
            <a:r>
              <a:rPr lang="pt-BR" altLang="pt-BR" sz="2400" dirty="0" smtClean="0">
                <a:solidFill>
                  <a:srgbClr val="002060"/>
                </a:solidFill>
              </a:rPr>
              <a:t>95% </a:t>
            </a:r>
            <a:r>
              <a:rPr lang="pt-BR" altLang="pt-BR" sz="2400" dirty="0">
                <a:solidFill>
                  <a:srgbClr val="002060"/>
                </a:solidFill>
              </a:rPr>
              <a:t>da nossa segurança.</a:t>
            </a:r>
          </a:p>
          <a:p>
            <a:pPr algn="just"/>
            <a:r>
              <a:rPr lang="pt-BR" altLang="pt-BR" sz="2400" dirty="0">
                <a:solidFill>
                  <a:srgbClr val="002060"/>
                </a:solidFill>
              </a:rPr>
              <a:t>Cumpra com todos os procedimentos de segurança, pois eles e os equipamentos disponíveis, são exclusivos para acompanhá-lo durante a viagem e localizá-lo rapidamente em caso de necessidade.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682340" y="3211392"/>
            <a:ext cx="4572000" cy="3404175"/>
            <a:chOff x="2164347" y="2867090"/>
            <a:chExt cx="4572000" cy="3404175"/>
          </a:xfrm>
        </p:grpSpPr>
        <p:sp>
          <p:nvSpPr>
            <p:cNvPr id="81" name="Rectangle 12"/>
            <p:cNvSpPr/>
            <p:nvPr/>
          </p:nvSpPr>
          <p:spPr>
            <a:xfrm>
              <a:off x="2164347" y="2867090"/>
              <a:ext cx="4572000" cy="2895600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pt-BR" sz="4800" b="1" dirty="0">
                  <a:latin typeface="Maven Pro" pitchFamily="50" charset="0"/>
                </a:rPr>
                <a:t>PREVENÇÃO</a:t>
              </a:r>
              <a:endParaRPr lang="en-US" sz="4800" b="1" dirty="0">
                <a:latin typeface="Maven Pro" pitchFamily="50" charset="0"/>
              </a:endParaRPr>
            </a:p>
          </p:txBody>
        </p:sp>
        <p:sp>
          <p:nvSpPr>
            <p:cNvPr id="84" name="TextBox 9"/>
            <p:cNvSpPr txBox="1">
              <a:spLocks noChangeArrowheads="1"/>
            </p:cNvSpPr>
            <p:nvPr/>
          </p:nvSpPr>
          <p:spPr bwMode="auto">
            <a:xfrm>
              <a:off x="2265947" y="5686490"/>
              <a:ext cx="90120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b="1" dirty="0">
                  <a:solidFill>
                    <a:srgbClr val="002060"/>
                  </a:solidFill>
                  <a:latin typeface="Maven Pro" pitchFamily="50" charset="0"/>
                </a:rPr>
                <a:t>95%</a:t>
              </a:r>
              <a:endParaRPr lang="en-US" altLang="pt-BR" b="1" dirty="0">
                <a:solidFill>
                  <a:srgbClr val="002060"/>
                </a:solidFill>
                <a:latin typeface="Maven Pro" pitchFamily="50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6111277" y="3234747"/>
            <a:ext cx="721176" cy="3480375"/>
            <a:chOff x="7420560" y="2867090"/>
            <a:chExt cx="721176" cy="3480375"/>
          </a:xfrm>
        </p:grpSpPr>
        <p:sp>
          <p:nvSpPr>
            <p:cNvPr id="83" name="Rectangle 14"/>
            <p:cNvSpPr/>
            <p:nvPr/>
          </p:nvSpPr>
          <p:spPr>
            <a:xfrm>
              <a:off x="7455936" y="2867090"/>
              <a:ext cx="685800" cy="2895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 eaLnBrk="1" hangingPunct="1">
                <a:defRPr/>
              </a:pPr>
              <a:r>
                <a:rPr lang="pt-BR" sz="3200" b="1" dirty="0">
                  <a:latin typeface="Maven Pro" pitchFamily="50" charset="0"/>
                </a:rPr>
                <a:t>SORTE</a:t>
              </a:r>
              <a:endParaRPr lang="en-US" sz="3200" b="1" dirty="0">
                <a:latin typeface="Maven Pro" pitchFamily="50" charset="0"/>
              </a:endParaRPr>
            </a:p>
          </p:txBody>
        </p:sp>
        <p:sp>
          <p:nvSpPr>
            <p:cNvPr id="86" name="TextBox 11"/>
            <p:cNvSpPr txBox="1">
              <a:spLocks noChangeArrowheads="1"/>
            </p:cNvSpPr>
            <p:nvPr/>
          </p:nvSpPr>
          <p:spPr bwMode="auto">
            <a:xfrm>
              <a:off x="7420560" y="5762690"/>
              <a:ext cx="69281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b="1" dirty="0">
                  <a:solidFill>
                    <a:srgbClr val="002060"/>
                  </a:solidFill>
                  <a:latin typeface="Maven Pro" pitchFamily="50" charset="0"/>
                </a:rPr>
                <a:t>2%</a:t>
              </a:r>
              <a:endParaRPr lang="en-US" altLang="pt-BR" b="1" dirty="0">
                <a:solidFill>
                  <a:srgbClr val="002060"/>
                </a:solidFill>
                <a:latin typeface="Maven Pro" pitchFamily="50" charset="0"/>
              </a:endParaRPr>
            </a:p>
          </p:txBody>
        </p:sp>
      </p:grpSp>
      <p:pic>
        <p:nvPicPr>
          <p:cNvPr id="15" name="Picture 13" descr="5">
            <a:extLst>
              <a:ext uri="{FF2B5EF4-FFF2-40B4-BE49-F238E27FC236}">
                <a16:creationId xmlns:a16="http://schemas.microsoft.com/office/drawing/2014/main" xmlns="" id="{D50446C0-9A7A-4EED-A425-5A4474872A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3" descr="5">
            <a:extLst>
              <a:ext uri="{FF2B5EF4-FFF2-40B4-BE49-F238E27FC236}">
                <a16:creationId xmlns:a16="http://schemas.microsoft.com/office/drawing/2014/main" xmlns="" id="{B3037AF5-2ECC-4831-809C-AD3664B694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9">
            <a:extLst>
              <a:ext uri="{FF2B5EF4-FFF2-40B4-BE49-F238E27FC236}">
                <a16:creationId xmlns:a16="http://schemas.microsoft.com/office/drawing/2014/main" xmlns="" id="{7E15F75B-BC29-4D22-BCEF-EE19EEEEEC27}"/>
              </a:ext>
            </a:extLst>
          </p:cNvPr>
          <p:cNvGrpSpPr/>
          <p:nvPr/>
        </p:nvGrpSpPr>
        <p:grpSpPr>
          <a:xfrm>
            <a:off x="5289716" y="3234747"/>
            <a:ext cx="721176" cy="3480375"/>
            <a:chOff x="7420560" y="2867090"/>
            <a:chExt cx="721176" cy="3480375"/>
          </a:xfrm>
        </p:grpSpPr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xmlns="" id="{CBEDEC80-FB3A-4C44-9018-6C6B8CB310E7}"/>
                </a:ext>
              </a:extLst>
            </p:cNvPr>
            <p:cNvSpPr/>
            <p:nvPr/>
          </p:nvSpPr>
          <p:spPr>
            <a:xfrm>
              <a:off x="7455936" y="2867090"/>
              <a:ext cx="685800" cy="28956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anchor="ctr"/>
            <a:lstStyle/>
            <a:p>
              <a:pPr algn="ctr" eaLnBrk="1" hangingPunct="1">
                <a:defRPr/>
              </a:pPr>
              <a:r>
                <a:rPr lang="en-US" sz="3200" b="1">
                  <a:latin typeface="Maven Pro" pitchFamily="50" charset="0"/>
                </a:rPr>
                <a:t>REAÇÃO</a:t>
              </a:r>
              <a:endParaRPr lang="en-US" sz="3200" b="1" dirty="0">
                <a:latin typeface="Maven Pro" pitchFamily="50" charset="0"/>
              </a:endParaRPr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xmlns="" id="{E3085B85-1AAE-4528-BE80-42EA02CA8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0560" y="5762690"/>
              <a:ext cx="69281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b="1" dirty="0">
                  <a:solidFill>
                    <a:srgbClr val="002060"/>
                  </a:solidFill>
                  <a:latin typeface="Maven Pro" pitchFamily="50" charset="0"/>
                </a:rPr>
                <a:t>3%</a:t>
              </a:r>
              <a:endParaRPr lang="en-US" altLang="pt-BR" b="1" dirty="0">
                <a:solidFill>
                  <a:srgbClr val="002060"/>
                </a:solidFill>
                <a:latin typeface="Maven Pro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895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37A861EC-CBFE-4DEB-88BB-21E2B6AF5EA0}"/>
              </a:ext>
            </a:extLst>
          </p:cNvPr>
          <p:cNvCxnSpPr>
            <a:cxnSpLocks/>
          </p:cNvCxnSpPr>
          <p:nvPr/>
        </p:nvCxnSpPr>
        <p:spPr>
          <a:xfrm>
            <a:off x="4815492" y="3101271"/>
            <a:ext cx="0" cy="7323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11" descr="Resultado de imagem para logo apisul png">
            <a:extLst>
              <a:ext uri="{FF2B5EF4-FFF2-40B4-BE49-F238E27FC236}">
                <a16:creationId xmlns:a16="http://schemas.microsoft.com/office/drawing/2014/main" xmlns="" id="{43F17783-2080-4947-A06B-513932A51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074" y="3031572"/>
            <a:ext cx="814491" cy="89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41754039-1BFB-48F9-8AB9-AA29356DBA9D}"/>
              </a:ext>
            </a:extLst>
          </p:cNvPr>
          <p:cNvSpPr txBox="1"/>
          <p:nvPr/>
        </p:nvSpPr>
        <p:spPr>
          <a:xfrm>
            <a:off x="4135905" y="3200388"/>
            <a:ext cx="3911702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36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</a:t>
            </a:r>
          </a:p>
        </p:txBody>
      </p:sp>
      <p:pic>
        <p:nvPicPr>
          <p:cNvPr id="7" name="Picture 13" descr="5">
            <a:extLst>
              <a:ext uri="{FF2B5EF4-FFF2-40B4-BE49-F238E27FC236}">
                <a16:creationId xmlns:a16="http://schemas.microsoft.com/office/drawing/2014/main" xmlns="" id="{36DDA49E-B4DD-425F-9E7C-7A05BB8B12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>
            <a:off x="1" y="4609324"/>
            <a:ext cx="265508" cy="225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5">
            <a:extLst>
              <a:ext uri="{FF2B5EF4-FFF2-40B4-BE49-F238E27FC236}">
                <a16:creationId xmlns:a16="http://schemas.microsoft.com/office/drawing/2014/main" xmlns="" id="{3BDD2229-6AF7-4D69-8488-25C05CEC6C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42" b="97986" l="5330" r="34777">
                        <a14:foregroundMark x1="6995" y1="28318" x2="6995" y2="28318"/>
                        <a14:foregroundMark x1="7995" y1="49171" x2="7995" y2="49171"/>
                        <a14:foregroundMark x1="11792" y1="57583" x2="11792" y2="57583"/>
                        <a14:foregroundMark x1="11792" y1="67180" x2="11792" y2="67180"/>
                        <a14:foregroundMark x1="7728" y1="71564" x2="7595" y2="72275"/>
                        <a14:foregroundMark x1="8861" y1="81280" x2="8861" y2="82464"/>
                        <a14:foregroundMark x1="9061" y1="90047" x2="8728" y2="91706"/>
                        <a14:foregroundMark x1="11526" y1="94313" x2="13991" y2="94668"/>
                        <a14:foregroundMark x1="21852" y1="94668" x2="22985" y2="94905"/>
                        <a14:foregroundMark x1="28781" y1="94905" x2="28781" y2="94905"/>
                        <a14:foregroundMark x1="34910" y1="97630" x2="20253" y2="76303"/>
                        <a14:foregroundMark x1="20253" y1="76303" x2="20253" y2="76303"/>
                        <a14:foregroundMark x1="20253" y1="76303" x2="20253" y2="76303"/>
                        <a14:foregroundMark x1="17788" y1="71682" x2="17788" y2="71682"/>
                        <a14:foregroundMark x1="9527" y1="87441" x2="9527" y2="87441"/>
                        <a14:foregroundMark x1="11592" y1="66706" x2="11592" y2="66706"/>
                        <a14:foregroundMark x1="10660" y1="49171" x2="10660" y2="49171"/>
                        <a14:foregroundMark x1="7795" y1="36374" x2="7795" y2="36374"/>
                        <a14:foregroundMark x1="7995" y1="32109" x2="7995" y2="32109"/>
                        <a14:foregroundMark x1="9061" y1="43720" x2="9260" y2="44194"/>
                        <a14:foregroundMark x1="11193" y1="57820" x2="11526" y2="58649"/>
                        <a14:foregroundMark x1="12258" y1="69431" x2="11792" y2="69787"/>
                        <a14:foregroundMark x1="6795" y1="75474" x2="6795" y2="75474"/>
                        <a14:foregroundMark x1="14191" y1="89336" x2="14191" y2="89336"/>
                        <a14:foregroundMark x1="20520" y1="84360" x2="18521" y2="80095"/>
                        <a14:foregroundMark x1="15590" y1="75592" x2="14923" y2="78318"/>
                        <a14:foregroundMark x1="14923" y1="82583" x2="14990" y2="87796"/>
                        <a14:foregroundMark x1="15123" y1="90284" x2="15123" y2="90284"/>
                        <a14:foregroundMark x1="15123" y1="88270" x2="13125" y2="83649"/>
                        <a14:foregroundMark x1="12258" y1="80450" x2="12258" y2="80450"/>
                        <a14:foregroundMark x1="13791" y1="76185" x2="13791" y2="76185"/>
                        <a14:foregroundMark x1="18254" y1="86848" x2="18987" y2="86848"/>
                        <a14:foregroundMark x1="22718" y1="90995" x2="23118" y2="90995"/>
                        <a14:foregroundMark x1="20786" y1="84005" x2="20786" y2="84005"/>
                        <a14:foregroundMark x1="15523" y1="76659" x2="15523" y2="76659"/>
                        <a14:foregroundMark x1="11326" y1="64929" x2="11326" y2="64929"/>
                        <a14:foregroundMark x1="10993" y1="54028" x2="10993" y2="54028"/>
                        <a14:foregroundMark x1="9727" y1="50118" x2="9727" y2="50118"/>
                        <a14:foregroundMark x1="8328" y1="43128" x2="7928" y2="16114"/>
                        <a14:foregroundMark x1="7928" y1="16114" x2="6396" y2="23578"/>
                        <a14:foregroundMark x1="6396" y1="23578" x2="7995" y2="52725"/>
                        <a14:foregroundMark x1="7995" y1="52725" x2="8728" y2="42536"/>
                        <a14:foregroundMark x1="8728" y1="42536" x2="7528" y2="50711"/>
                        <a14:foregroundMark x1="7528" y1="50711" x2="11459" y2="53910"/>
                        <a14:foregroundMark x1="11459" y1="53910" x2="8528" y2="75474"/>
                        <a14:foregroundMark x1="8528" y1="75474" x2="11326" y2="95261"/>
                        <a14:foregroundMark x1="11326" y1="95261" x2="13191" y2="86019"/>
                        <a14:foregroundMark x1="13191" y1="86019" x2="14590" y2="93602"/>
                        <a14:foregroundMark x1="14590" y1="93602" x2="18521" y2="92180"/>
                        <a14:foregroundMark x1="18521" y1="92180" x2="28448" y2="95142"/>
                        <a14:foregroundMark x1="28448" y1="95142" x2="22385" y2="84716"/>
                        <a14:foregroundMark x1="22385" y1="84716" x2="13524" y2="78555"/>
                        <a14:foregroundMark x1="13524" y1="78555" x2="13191" y2="63981"/>
                        <a14:foregroundMark x1="13191" y1="63981" x2="7861" y2="63863"/>
                        <a14:foregroundMark x1="7861" y1="63863" x2="6262" y2="44431"/>
                        <a14:foregroundMark x1="6262" y1="44431" x2="5463" y2="52962"/>
                        <a14:foregroundMark x1="5463" y1="52962" x2="7928" y2="47512"/>
                        <a14:foregroundMark x1="7928" y1="47512" x2="7129" y2="58886"/>
                        <a14:foregroundMark x1="7129" y1="58886" x2="12258" y2="60782"/>
                        <a14:foregroundMark x1="12258" y1="60782" x2="9993" y2="78318"/>
                        <a14:foregroundMark x1="9993" y1="78318" x2="7595" y2="86137"/>
                        <a14:foregroundMark x1="7595" y1="86137" x2="7062" y2="93957"/>
                        <a14:foregroundMark x1="7062" y1="93957" x2="23718" y2="95735"/>
                        <a14:foregroundMark x1="23718" y1="95735" x2="27715" y2="92417"/>
                        <a14:foregroundMark x1="27715" y1="92417" x2="26382" y2="92536"/>
                        <a14:foregroundMark x1="5530" y1="9360" x2="5530" y2="47393"/>
                        <a14:foregroundMark x1="6262" y1="54384" x2="6662" y2="94313"/>
                        <a14:foregroundMark x1="6396" y1="96682" x2="30846" y2="97986"/>
                        <a14:foregroundMark x1="30913" y1="97749" x2="30913" y2="97749"/>
                        <a14:foregroundMark x1="31046" y1="95379" x2="31046" y2="95379"/>
                        <a14:foregroundMark x1="6063" y1="96090" x2="5663" y2="53436"/>
                        <a14:foregroundMark x1="5663" y1="53436" x2="5663" y2="52962"/>
                        <a14:backgroundMark x1="7795" y1="5332" x2="24317" y2="67417"/>
                        <a14:backgroundMark x1="24317" y1="67417" x2="24317" y2="67417"/>
                        <a14:backgroundMark x1="8394" y1="6043" x2="10660" y2="21564"/>
                        <a14:backgroundMark x1="10660" y1="21564" x2="10660" y2="21564"/>
                        <a14:backgroundMark x1="10660" y1="21209" x2="10660" y2="21209"/>
                        <a14:backgroundMark x1="12325" y1="35664" x2="12325" y2="35664"/>
                        <a14:backgroundMark x1="8606" y1="18687" x2="11326" y2="36374"/>
                        <a14:backgroundMark x1="6662" y1="6043" x2="8240" y2="16308"/>
                        <a14:backgroundMark x1="11326" y1="36374" x2="29980" y2="86848"/>
                        <a14:backgroundMark x1="29980" y1="86848" x2="35643" y2="95379"/>
                        <a14:backgroundMark x1="20320" y1="32938" x2="20320" y2="32938"/>
                        <a14:backgroundMark x1="25050" y1="23697" x2="25050" y2="23697"/>
                        <a14:backgroundMark x1="24983" y1="16943" x2="20653" y2="39573"/>
                        <a14:backgroundMark x1="20653" y1="39573" x2="32845" y2="55806"/>
                        <a14:backgroundMark x1="32845" y1="55806" x2="35243" y2="49289"/>
                        <a14:backgroundMark x1="35243" y1="49289" x2="30047" y2="24645"/>
                        <a14:backgroundMark x1="30047" y1="24645" x2="26116" y2="19431"/>
                        <a14:backgroundMark x1="26116" y1="19431" x2="20653" y2="20142"/>
                        <a14:backgroundMark x1="20653" y1="20142" x2="17255" y2="25000"/>
                        <a14:backgroundMark x1="17255" y1="25000" x2="15590" y2="36730"/>
                        <a14:backgroundMark x1="15590" y1="36730" x2="18188" y2="46919"/>
                        <a14:backgroundMark x1="18188" y1="46919" x2="31512" y2="68365"/>
                        <a14:backgroundMark x1="31512" y1="68365" x2="35310" y2="65403"/>
                        <a14:backgroundMark x1="35310" y1="65403" x2="37175" y2="58294"/>
                        <a14:backgroundMark x1="37175" y1="58294" x2="37508" y2="50000"/>
                        <a14:backgroundMark x1="37508" y1="50000" x2="32911" y2="23697"/>
                        <a14:backgroundMark x1="32911" y1="23697" x2="25383" y2="11848"/>
                        <a14:backgroundMark x1="25383" y1="11848" x2="21186" y2="13981"/>
                        <a14:backgroundMark x1="21186" y1="13981" x2="17921" y2="20261"/>
                        <a14:backgroundMark x1="17921" y1="20261" x2="16656" y2="27725"/>
                        <a14:backgroundMark x1="16656" y1="27725" x2="16656" y2="38152"/>
                        <a14:backgroundMark x1="26316" y1="28910" x2="28248" y2="44313"/>
                        <a14:backgroundMark x1="28248" y1="44313" x2="31845" y2="37796"/>
                        <a14:backgroundMark x1="31845" y1="37796" x2="30313" y2="26303"/>
                        <a14:backgroundMark x1="30313" y1="26303" x2="26249" y2="24408"/>
                        <a14:backgroundMark x1="26249" y1="24408" x2="22985" y2="29621"/>
                        <a14:backgroundMark x1="22985" y1="29621" x2="20653" y2="38863"/>
                        <a14:backgroundMark x1="20653" y1="38863" x2="25450" y2="42773"/>
                        <a14:backgroundMark x1="25450" y1="42773" x2="29314" y2="33294"/>
                        <a14:backgroundMark x1="29314" y1="33294" x2="28448" y2="25592"/>
                        <a14:backgroundMark x1="28448" y1="25592" x2="23251" y2="34953"/>
                        <a14:backgroundMark x1="23251" y1="34953" x2="29580" y2="30569"/>
                        <a14:backgroundMark x1="29580" y1="30569" x2="29913" y2="23460"/>
                        <a14:backgroundMark x1="29913" y1="23460" x2="27915" y2="35427"/>
                        <a14:backgroundMark x1="27915" y1="35427" x2="32245" y2="30213"/>
                        <a14:backgroundMark x1="32245" y1="30213" x2="29847" y2="24289"/>
                        <a14:backgroundMark x1="29847" y1="24289" x2="27049" y2="30332"/>
                        <a14:backgroundMark x1="27049" y1="30332" x2="25983" y2="36967"/>
                        <a14:backgroundMark x1="25983" y1="36967" x2="30513" y2="31043"/>
                        <a14:backgroundMark x1="30513" y1="31043" x2="29181" y2="24408"/>
                        <a14:backgroundMark x1="29181" y1="24408" x2="22585" y2="32464"/>
                        <a14:backgroundMark x1="22585" y1="32464" x2="27249" y2="31635"/>
                        <a14:backgroundMark x1="27249" y1="31635" x2="23917" y2="36967"/>
                        <a14:backgroundMark x1="23917" y1="36967" x2="28115" y2="28910"/>
                        <a14:backgroundMark x1="28115" y1="28910" x2="25250" y2="32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82" r="66507" b="7553"/>
          <a:stretch/>
        </p:blipFill>
        <p:spPr bwMode="auto">
          <a:xfrm rot="10800000">
            <a:off x="10289071" y="0"/>
            <a:ext cx="331304" cy="214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xmlns="" id="{88D8FF5F-DB52-4FCB-9C40-C88AE6DDE7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6319" y="1826529"/>
            <a:ext cx="1874149" cy="734042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89A086C1-1239-47F5-A86D-711BEDF3F838}"/>
              </a:ext>
            </a:extLst>
          </p:cNvPr>
          <p:cNvSpPr txBox="1"/>
          <p:nvPr/>
        </p:nvSpPr>
        <p:spPr>
          <a:xfrm>
            <a:off x="152401" y="5154659"/>
            <a:ext cx="288234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u="sng" dirty="0">
                <a:solidFill>
                  <a:schemeClr val="accent1">
                    <a:lumMod val="50000"/>
                  </a:schemeClr>
                </a:solidFill>
              </a:rPr>
              <a:t>Guilherme Pereira – </a:t>
            </a:r>
            <a:r>
              <a:rPr lang="pt-BR" b="1" u="sng">
                <a:solidFill>
                  <a:schemeClr val="accent1">
                    <a:lumMod val="50000"/>
                  </a:schemeClr>
                </a:solidFill>
              </a:rPr>
              <a:t>Guilherme Zancanella</a:t>
            </a:r>
            <a:endParaRPr lang="pt-BR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pt-BR" sz="1400" dirty="0">
                <a:solidFill>
                  <a:schemeClr val="accent1">
                    <a:lumMod val="50000"/>
                  </a:schemeClr>
                </a:solidFill>
              </a:rPr>
              <a:t>Gerenciamento de Riscos</a:t>
            </a:r>
          </a:p>
          <a:p>
            <a:r>
              <a:rPr lang="pt-BR" sz="1400" dirty="0">
                <a:solidFill>
                  <a:schemeClr val="tx2"/>
                </a:solidFill>
                <a:hlinkClick r:id="rId8"/>
              </a:rPr>
              <a:t>Guilherme.pereira@apisul.com.br</a:t>
            </a:r>
            <a:endParaRPr lang="pt-BR" sz="1400" dirty="0">
              <a:solidFill>
                <a:schemeClr val="tx2"/>
              </a:solidFill>
            </a:endParaRPr>
          </a:p>
          <a:p>
            <a:r>
              <a:rPr lang="pt-BR" sz="1400" dirty="0">
                <a:solidFill>
                  <a:schemeClr val="tx2"/>
                </a:solidFill>
                <a:hlinkClick r:id="rId9"/>
              </a:rPr>
              <a:t>www.apisul.com.br</a:t>
            </a:r>
            <a:endParaRPr lang="pt-BR" sz="1400" dirty="0">
              <a:solidFill>
                <a:schemeClr val="tx2"/>
              </a:solidFill>
            </a:endParaRPr>
          </a:p>
          <a:p>
            <a:endParaRPr lang="pt-BR" sz="1600" dirty="0">
              <a:solidFill>
                <a:srgbClr val="EB7E07"/>
              </a:solidFill>
            </a:endParaRPr>
          </a:p>
          <a:p>
            <a:endParaRPr lang="pt-BR" sz="1600" dirty="0">
              <a:solidFill>
                <a:srgbClr val="EB7E0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34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723AE37EC4E0A45A87D7839C6BC6191" ma:contentTypeVersion="17" ma:contentTypeDescription="Crie um novo documento." ma:contentTypeScope="" ma:versionID="8f201619bd478d2a5446b7ec0abf3de9">
  <xsd:schema xmlns:xsd="http://www.w3.org/2001/XMLSchema" xmlns:xs="http://www.w3.org/2001/XMLSchema" xmlns:p="http://schemas.microsoft.com/office/2006/metadata/properties" xmlns:ns2="60cfe371-ec62-4ce4-afb7-8452ffaa8505" xmlns:ns3="cf764383-b450-4dac-a887-05d5a6d266c5" targetNamespace="http://schemas.microsoft.com/office/2006/metadata/properties" ma:root="true" ma:fieldsID="15a3fb66add7b34af6c7692c101b8ecf" ns2:_="" ns3:_="">
    <xsd:import namespace="60cfe371-ec62-4ce4-afb7-8452ffaa8505"/>
    <xsd:import namespace="cf764383-b450-4dac-a887-05d5a6d266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cfe371-ec62-4ce4-afb7-8452ffaa85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e7413719-7148-4241-85ce-f02104c42b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4" nillable="true" ma:displayName="Status de liberação" ma:internalName="Status_x0020_de_x0020_libera_x00e7__x00e3_o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764383-b450-4dac-a887-05d5a6d266c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f73b44a-9d28-4d14-8f99-bccd6b41db3f}" ma:internalName="TaxCatchAll" ma:showField="CatchAllData" ma:web="cf764383-b450-4dac-a887-05d5a6d266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764383-b450-4dac-a887-05d5a6d266c5" xsi:nil="true"/>
    <lcf76f155ced4ddcb4097134ff3c332f xmlns="60cfe371-ec62-4ce4-afb7-8452ffaa8505">
      <Terms xmlns="http://schemas.microsoft.com/office/infopath/2007/PartnerControls"/>
    </lcf76f155ced4ddcb4097134ff3c332f>
    <_Flow_SignoffStatus xmlns="60cfe371-ec62-4ce4-afb7-8452ffaa8505" xsi:nil="true"/>
  </documentManagement>
</p:properties>
</file>

<file path=customXml/itemProps1.xml><?xml version="1.0" encoding="utf-8"?>
<ds:datastoreItem xmlns:ds="http://schemas.openxmlformats.org/officeDocument/2006/customXml" ds:itemID="{9B1C6A22-A95E-40CC-9CAA-BCDA9B98744F}"/>
</file>

<file path=customXml/itemProps2.xml><?xml version="1.0" encoding="utf-8"?>
<ds:datastoreItem xmlns:ds="http://schemas.openxmlformats.org/officeDocument/2006/customXml" ds:itemID="{2EA2E0A1-6C8F-4D52-8BF6-E2B699A0E4E7}"/>
</file>

<file path=customXml/itemProps3.xml><?xml version="1.0" encoding="utf-8"?>
<ds:datastoreItem xmlns:ds="http://schemas.openxmlformats.org/officeDocument/2006/customXml" ds:itemID="{9B58538B-EB5A-4BFE-BF28-5D24669117C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6302</TotalTime>
  <Words>1113</Words>
  <Application>Microsoft Office PowerPoint</Application>
  <PresentationFormat>Personalizar</PresentationFormat>
  <Paragraphs>170</Paragraphs>
  <Slides>19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Arial Unicode MS</vt:lpstr>
      <vt:lpstr>Arial</vt:lpstr>
      <vt:lpstr>Calibri</vt:lpstr>
      <vt:lpstr>Calibri Light</vt:lpstr>
      <vt:lpstr>Maven Pro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Patrícia Rudiger Matzenauer</dc:creator>
  <cp:lastModifiedBy>Eliseu Carlos de Moura</cp:lastModifiedBy>
  <cp:revision>297</cp:revision>
  <dcterms:created xsi:type="dcterms:W3CDTF">2015-01-06T16:43:36Z</dcterms:created>
  <dcterms:modified xsi:type="dcterms:W3CDTF">2022-02-10T20:17:20Z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0x0101003723AE37EC4E0A45A87D7839C6BC6191</vt:lpwstr>
  </property>
</Properties>
</file>